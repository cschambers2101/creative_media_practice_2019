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1" r:id="rId1"/>
  </p:sldMasterIdLst>
  <p:notesMasterIdLst>
    <p:notesMasterId r:id="rId13"/>
  </p:notesMasterIdLst>
  <p:sldIdLst>
    <p:sldId id="256" r:id="rId2"/>
    <p:sldId id="257" r:id="rId3"/>
    <p:sldId id="258" r:id="rId4"/>
    <p:sldId id="259" r:id="rId5"/>
    <p:sldId id="269" r:id="rId6"/>
    <p:sldId id="263" r:id="rId7"/>
    <p:sldId id="264" r:id="rId8"/>
    <p:sldId id="265" r:id="rId9"/>
    <p:sldId id="266" r:id="rId10"/>
    <p:sldId id="267" r:id="rId11"/>
    <p:sldId id="268" r:id="rId12"/>
  </p:sldIdLst>
  <p:sldSz cx="9144000" cy="5145088"/>
  <p:notesSz cx="10058400" cy="7772400"/>
  <p:embeddedFontLst>
    <p:embeddedFont>
      <p:font typeface="Calibri" panose="020F0502020204030204" pitchFamily="34" charset="0"/>
      <p:regular r:id="rId14"/>
      <p:bold r:id="rId15"/>
      <p:italic r:id="rId16"/>
      <p:boldItalic r:id="rId17"/>
    </p:embeddedFont>
    <p:embeddedFont>
      <p:font typeface="Open Sans" panose="020B0606030504020204" pitchFamily="34" charset="0"/>
      <p:regular r:id="rId18"/>
      <p:bold r:id="rId19"/>
      <p:italic r:id="rId20"/>
      <p:boldItalic r:id="rId21"/>
    </p:embeddedFont>
    <p:embeddedFont>
      <p:font typeface="Playfair Display" panose="00000500000000000000" pitchFamily="2" charset="0"/>
      <p:regular r:id="rId22"/>
      <p:bold r:id="rId23"/>
      <p:italic r:id="rId24"/>
      <p:boldItalic r:id="rId25"/>
    </p:embeddedFont>
    <p:embeddedFont>
      <p:font typeface="Verdana" panose="020B060403050404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06">
          <p15:clr>
            <a:srgbClr val="A4A3A4"/>
          </p15:clr>
        </p15:guide>
        <p15:guide id="2" pos="196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837" autoAdjust="0"/>
  </p:normalViewPr>
  <p:slideViewPr>
    <p:cSldViewPr snapToGrid="0">
      <p:cViewPr varScale="1">
        <p:scale>
          <a:sx n="85" d="100"/>
          <a:sy n="85" d="100"/>
        </p:scale>
        <p:origin x="882" y="78"/>
      </p:cViewPr>
      <p:guideLst>
        <p:guide orient="horz" pos="1906"/>
        <p:guide pos="1963"/>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76725" y="582925"/>
            <a:ext cx="67059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47252757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1:notes"/>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 name="Google Shape;37;p1:notes"/>
          <p:cNvSpPr>
            <a:spLocks noGrp="1" noRot="1" noChangeAspect="1"/>
          </p:cNvSpPr>
          <p:nvPr>
            <p:ph type="sldImg" idx="2"/>
          </p:nvPr>
        </p:nvSpPr>
        <p:spPr>
          <a:xfrm>
            <a:off x="2439988" y="582613"/>
            <a:ext cx="51784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2:notes"/>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 name="Google Shape;45;p2:notes"/>
          <p:cNvSpPr>
            <a:spLocks noGrp="1" noRot="1" noChangeAspect="1"/>
          </p:cNvSpPr>
          <p:nvPr>
            <p:ph type="sldImg" idx="2"/>
          </p:nvPr>
        </p:nvSpPr>
        <p:spPr>
          <a:xfrm>
            <a:off x="2439988" y="582613"/>
            <a:ext cx="51784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3:notes"/>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 name="Google Shape;55;p3:notes"/>
          <p:cNvSpPr>
            <a:spLocks noGrp="1" noRot="1" noChangeAspect="1"/>
          </p:cNvSpPr>
          <p:nvPr>
            <p:ph type="sldImg" idx="2"/>
          </p:nvPr>
        </p:nvSpPr>
        <p:spPr>
          <a:xfrm>
            <a:off x="2439988" y="582613"/>
            <a:ext cx="51784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4:notes"/>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 name="Google Shape;65;p4:notes"/>
          <p:cNvSpPr>
            <a:spLocks noGrp="1" noRot="1" noChangeAspect="1"/>
          </p:cNvSpPr>
          <p:nvPr>
            <p:ph type="sldImg" idx="2"/>
          </p:nvPr>
        </p:nvSpPr>
        <p:spPr>
          <a:xfrm>
            <a:off x="2439988" y="582613"/>
            <a:ext cx="51784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9:notes"/>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p9:notes"/>
          <p:cNvSpPr>
            <a:spLocks noGrp="1" noRot="1" noChangeAspect="1"/>
          </p:cNvSpPr>
          <p:nvPr>
            <p:ph type="sldImg" idx="2"/>
          </p:nvPr>
        </p:nvSpPr>
        <p:spPr>
          <a:xfrm>
            <a:off x="2439988" y="582613"/>
            <a:ext cx="51784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0:notes"/>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 name="Google Shape;132;p10:notes"/>
          <p:cNvSpPr>
            <a:spLocks noGrp="1" noRot="1" noChangeAspect="1"/>
          </p:cNvSpPr>
          <p:nvPr>
            <p:ph type="sldImg" idx="2"/>
          </p:nvPr>
        </p:nvSpPr>
        <p:spPr>
          <a:xfrm>
            <a:off x="2439988" y="582613"/>
            <a:ext cx="51784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1:notes"/>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1:notes"/>
          <p:cNvSpPr>
            <a:spLocks noGrp="1" noRot="1" noChangeAspect="1"/>
          </p:cNvSpPr>
          <p:nvPr>
            <p:ph type="sldImg" idx="2"/>
          </p:nvPr>
        </p:nvSpPr>
        <p:spPr>
          <a:xfrm>
            <a:off x="2439988" y="582613"/>
            <a:ext cx="51784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12:notes"/>
          <p:cNvSpPr>
            <a:spLocks noGrp="1" noRot="1" noChangeAspect="1"/>
          </p:cNvSpPr>
          <p:nvPr>
            <p:ph type="sldImg" idx="2"/>
          </p:nvPr>
        </p:nvSpPr>
        <p:spPr>
          <a:xfrm>
            <a:off x="2439988" y="582613"/>
            <a:ext cx="51784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3:notes"/>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p13:notes"/>
          <p:cNvSpPr>
            <a:spLocks noGrp="1" noRot="1" noChangeAspect="1"/>
          </p:cNvSpPr>
          <p:nvPr>
            <p:ph type="sldImg" idx="2"/>
          </p:nvPr>
        </p:nvSpPr>
        <p:spPr>
          <a:xfrm>
            <a:off x="2439988" y="582613"/>
            <a:ext cx="51784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4:notes"/>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14:notes"/>
          <p:cNvSpPr>
            <a:spLocks noGrp="1" noRot="1" noChangeAspect="1"/>
          </p:cNvSpPr>
          <p:nvPr>
            <p:ph type="sldImg" idx="2"/>
          </p:nvPr>
        </p:nvSpPr>
        <p:spPr>
          <a:xfrm>
            <a:off x="2439988" y="582613"/>
            <a:ext cx="51784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6:notes"/>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16:notes"/>
          <p:cNvSpPr>
            <a:spLocks noGrp="1" noRot="1" noChangeAspect="1"/>
          </p:cNvSpPr>
          <p:nvPr>
            <p:ph type="sldImg" idx="2"/>
          </p:nvPr>
        </p:nvSpPr>
        <p:spPr>
          <a:xfrm>
            <a:off x="2439988" y="582613"/>
            <a:ext cx="51784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obj">
  <p:cSld name="OBJECT">
    <p:bg>
      <p:bgPr>
        <a:solidFill>
          <a:schemeClr val="lt1"/>
        </a:solidFill>
        <a:effectLst/>
      </p:bgPr>
    </p:bg>
    <p:spTree>
      <p:nvGrpSpPr>
        <p:cNvPr id="1" name="Shape 12"/>
        <p:cNvGrpSpPr/>
        <p:nvPr/>
      </p:nvGrpSpPr>
      <p:grpSpPr>
        <a:xfrm>
          <a:off x="0" y="0"/>
          <a:ext cx="0" cy="0"/>
          <a:chOff x="0" y="0"/>
          <a:chExt cx="0" cy="0"/>
        </a:xfrm>
      </p:grpSpPr>
      <p:sp>
        <p:nvSpPr>
          <p:cNvPr id="13" name="Google Shape;13;p2"/>
          <p:cNvSpPr txBox="1">
            <a:spLocks noGrp="1"/>
          </p:cNvSpPr>
          <p:nvPr>
            <p:ph type="ftr" idx="11"/>
          </p:nvPr>
        </p:nvSpPr>
        <p:spPr>
          <a:xfrm>
            <a:off x="3108960" y="4784933"/>
            <a:ext cx="2926080" cy="183365"/>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dt" idx="10"/>
          </p:nvPr>
        </p:nvSpPr>
        <p:spPr>
          <a:xfrm>
            <a:off x="4346401" y="4053849"/>
            <a:ext cx="452581" cy="21518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699" b="0" i="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6583680" y="4784933"/>
            <a:ext cx="2103120" cy="18336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16"/>
        <p:cNvGrpSpPr/>
        <p:nvPr/>
      </p:nvGrpSpPr>
      <p:grpSpPr>
        <a:xfrm>
          <a:off x="0" y="0"/>
          <a:ext cx="0" cy="0"/>
          <a:chOff x="0" y="0"/>
          <a:chExt cx="0" cy="0"/>
        </a:xfrm>
      </p:grpSpPr>
      <p:sp>
        <p:nvSpPr>
          <p:cNvPr id="17" name="Google Shape;17;p3"/>
          <p:cNvSpPr/>
          <p:nvPr/>
        </p:nvSpPr>
        <p:spPr>
          <a:xfrm>
            <a:off x="415637" y="870126"/>
            <a:ext cx="8312728" cy="3404838"/>
          </a:xfrm>
          <a:custGeom>
            <a:avLst/>
            <a:gdLst/>
            <a:ahLst/>
            <a:cxnLst/>
            <a:rect l="l" t="t" r="r" b="b"/>
            <a:pathLst>
              <a:path w="9144000" h="5143500" extrusionOk="0">
                <a:moveTo>
                  <a:pt x="0" y="5143500"/>
                </a:moveTo>
                <a:lnTo>
                  <a:pt x="9144000" y="5143500"/>
                </a:lnTo>
                <a:lnTo>
                  <a:pt x="9144000" y="0"/>
                </a:lnTo>
                <a:lnTo>
                  <a:pt x="0" y="0"/>
                </a:lnTo>
                <a:lnTo>
                  <a:pt x="0" y="5143500"/>
                </a:lnTo>
                <a:close/>
              </a:path>
            </a:pathLst>
          </a:custGeom>
          <a:solidFill>
            <a:srgbClr val="4B4F5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1"/>
              <a:buFont typeface="Arial"/>
              <a:buNone/>
            </a:pPr>
            <a:endParaRPr sz="1801" b="0" i="0" u="none" strike="noStrike" cap="none">
              <a:solidFill>
                <a:schemeClr val="dk1"/>
              </a:solidFill>
              <a:latin typeface="Calibri"/>
              <a:ea typeface="Calibri"/>
              <a:cs typeface="Calibri"/>
              <a:sym typeface="Calibri"/>
            </a:endParaRPr>
          </a:p>
        </p:txBody>
      </p:sp>
      <p:sp>
        <p:nvSpPr>
          <p:cNvPr id="18" name="Google Shape;18;p3"/>
          <p:cNvSpPr/>
          <p:nvPr/>
        </p:nvSpPr>
        <p:spPr>
          <a:xfrm>
            <a:off x="8474133" y="2387422"/>
            <a:ext cx="254578" cy="370749"/>
          </a:xfrm>
          <a:custGeom>
            <a:avLst/>
            <a:gdLst/>
            <a:ahLst/>
            <a:cxnLst/>
            <a:rect l="l" t="t" r="r" b="b"/>
            <a:pathLst>
              <a:path w="280034" h="560070" extrusionOk="0">
                <a:moveTo>
                  <a:pt x="279653" y="0"/>
                </a:moveTo>
                <a:lnTo>
                  <a:pt x="234234" y="3654"/>
                </a:lnTo>
                <a:lnTo>
                  <a:pt x="191170" y="14240"/>
                </a:lnTo>
                <a:lnTo>
                  <a:pt x="151032" y="31190"/>
                </a:lnTo>
                <a:lnTo>
                  <a:pt x="114391" y="53937"/>
                </a:lnTo>
                <a:lnTo>
                  <a:pt x="81819" y="81914"/>
                </a:lnTo>
                <a:lnTo>
                  <a:pt x="53888" y="114556"/>
                </a:lnTo>
                <a:lnTo>
                  <a:pt x="31169" y="151293"/>
                </a:lnTo>
                <a:lnTo>
                  <a:pt x="14234" y="191560"/>
                </a:lnTo>
                <a:lnTo>
                  <a:pt x="3653" y="234790"/>
                </a:lnTo>
                <a:lnTo>
                  <a:pt x="0" y="280415"/>
                </a:lnTo>
                <a:lnTo>
                  <a:pt x="3653" y="325835"/>
                </a:lnTo>
                <a:lnTo>
                  <a:pt x="14234" y="368899"/>
                </a:lnTo>
                <a:lnTo>
                  <a:pt x="31169" y="409037"/>
                </a:lnTo>
                <a:lnTo>
                  <a:pt x="53888" y="445678"/>
                </a:lnTo>
                <a:lnTo>
                  <a:pt x="81819" y="478250"/>
                </a:lnTo>
                <a:lnTo>
                  <a:pt x="114391" y="506181"/>
                </a:lnTo>
                <a:lnTo>
                  <a:pt x="151032" y="528900"/>
                </a:lnTo>
                <a:lnTo>
                  <a:pt x="191170" y="545835"/>
                </a:lnTo>
                <a:lnTo>
                  <a:pt x="234234" y="556416"/>
                </a:lnTo>
                <a:lnTo>
                  <a:pt x="279653" y="560069"/>
                </a:lnTo>
                <a:lnTo>
                  <a:pt x="279653" y="0"/>
                </a:lnTo>
                <a:close/>
              </a:path>
            </a:pathLst>
          </a:custGeom>
          <a:solidFill>
            <a:srgbClr val="00B2C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1"/>
              <a:buFont typeface="Arial"/>
              <a:buNone/>
            </a:pPr>
            <a:endParaRPr sz="1801" b="0" i="0" u="none" strike="noStrike" cap="none">
              <a:solidFill>
                <a:schemeClr val="dk1"/>
              </a:solidFill>
              <a:latin typeface="Calibri"/>
              <a:ea typeface="Calibri"/>
              <a:cs typeface="Calibri"/>
              <a:sym typeface="Calibri"/>
            </a:endParaRPr>
          </a:p>
        </p:txBody>
      </p:sp>
      <p:sp>
        <p:nvSpPr>
          <p:cNvPr id="19" name="Google Shape;19;p3"/>
          <p:cNvSpPr/>
          <p:nvPr/>
        </p:nvSpPr>
        <p:spPr>
          <a:xfrm>
            <a:off x="646314" y="1015398"/>
            <a:ext cx="65116" cy="47920"/>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1"/>
              <a:buFont typeface="Arial"/>
              <a:buNone/>
            </a:pPr>
            <a:endParaRPr sz="1801" b="0" i="0" u="none" strike="noStrike" cap="none">
              <a:solidFill>
                <a:schemeClr val="dk1"/>
              </a:solidFill>
              <a:latin typeface="Calibri"/>
              <a:ea typeface="Calibri"/>
              <a:cs typeface="Calibri"/>
              <a:sym typeface="Calibri"/>
            </a:endParaRPr>
          </a:p>
        </p:txBody>
      </p:sp>
      <p:sp>
        <p:nvSpPr>
          <p:cNvPr id="20" name="Google Shape;20;p3"/>
          <p:cNvSpPr/>
          <p:nvPr/>
        </p:nvSpPr>
        <p:spPr>
          <a:xfrm>
            <a:off x="7519554" y="3976348"/>
            <a:ext cx="243609" cy="150485"/>
          </a:xfrm>
          <a:custGeom>
            <a:avLst/>
            <a:gdLst/>
            <a:ahLst/>
            <a:cxnLst/>
            <a:rect l="l" t="t" r="r" b="b"/>
            <a:pathLst>
              <a:path w="267970" h="227329" extrusionOk="0">
                <a:moveTo>
                  <a:pt x="141732" y="0"/>
                </a:moveTo>
                <a:lnTo>
                  <a:pt x="75152" y="12382"/>
                </a:lnTo>
                <a:lnTo>
                  <a:pt x="27432" y="44195"/>
                </a:lnTo>
                <a:lnTo>
                  <a:pt x="1928" y="94023"/>
                </a:lnTo>
                <a:lnTo>
                  <a:pt x="0" y="112775"/>
                </a:lnTo>
                <a:lnTo>
                  <a:pt x="1928" y="132409"/>
                </a:lnTo>
                <a:lnTo>
                  <a:pt x="16073" y="167961"/>
                </a:lnTo>
                <a:lnTo>
                  <a:pt x="48363" y="200715"/>
                </a:lnTo>
                <a:lnTo>
                  <a:pt x="105656" y="223813"/>
                </a:lnTo>
                <a:lnTo>
                  <a:pt x="139446" y="227075"/>
                </a:lnTo>
                <a:lnTo>
                  <a:pt x="173557" y="223813"/>
                </a:lnTo>
                <a:lnTo>
                  <a:pt x="204311" y="214693"/>
                </a:lnTo>
                <a:lnTo>
                  <a:pt x="224043" y="204215"/>
                </a:lnTo>
                <a:lnTo>
                  <a:pt x="176784" y="204215"/>
                </a:lnTo>
                <a:lnTo>
                  <a:pt x="141279" y="197000"/>
                </a:lnTo>
                <a:lnTo>
                  <a:pt x="112204" y="177355"/>
                </a:lnTo>
                <a:lnTo>
                  <a:pt x="92559" y="148280"/>
                </a:lnTo>
                <a:lnTo>
                  <a:pt x="85344" y="112775"/>
                </a:lnTo>
                <a:lnTo>
                  <a:pt x="92559" y="77509"/>
                </a:lnTo>
                <a:lnTo>
                  <a:pt x="112204" y="48958"/>
                </a:lnTo>
                <a:lnTo>
                  <a:pt x="141279" y="29837"/>
                </a:lnTo>
                <a:lnTo>
                  <a:pt x="176784" y="22859"/>
                </a:lnTo>
                <a:lnTo>
                  <a:pt x="229316" y="22859"/>
                </a:lnTo>
                <a:lnTo>
                  <a:pt x="227075" y="21335"/>
                </a:lnTo>
                <a:lnTo>
                  <a:pt x="209026" y="12858"/>
                </a:lnTo>
                <a:lnTo>
                  <a:pt x="188404" y="6095"/>
                </a:lnTo>
                <a:lnTo>
                  <a:pt x="165782" y="1619"/>
                </a:lnTo>
                <a:lnTo>
                  <a:pt x="141732" y="0"/>
                </a:lnTo>
                <a:close/>
              </a:path>
              <a:path w="267970" h="227329" extrusionOk="0">
                <a:moveTo>
                  <a:pt x="251460" y="165353"/>
                </a:moveTo>
                <a:lnTo>
                  <a:pt x="237434" y="181391"/>
                </a:lnTo>
                <a:lnTo>
                  <a:pt x="219837" y="193643"/>
                </a:lnTo>
                <a:lnTo>
                  <a:pt x="199382" y="201465"/>
                </a:lnTo>
                <a:lnTo>
                  <a:pt x="176784" y="204215"/>
                </a:lnTo>
                <a:lnTo>
                  <a:pt x="224043" y="204215"/>
                </a:lnTo>
                <a:lnTo>
                  <a:pt x="230635" y="200715"/>
                </a:lnTo>
                <a:lnTo>
                  <a:pt x="251460" y="182879"/>
                </a:lnTo>
                <a:lnTo>
                  <a:pt x="252222" y="181355"/>
                </a:lnTo>
                <a:lnTo>
                  <a:pt x="255270" y="178307"/>
                </a:lnTo>
                <a:lnTo>
                  <a:pt x="251460" y="165353"/>
                </a:lnTo>
                <a:close/>
              </a:path>
              <a:path w="267970" h="227329" extrusionOk="0">
                <a:moveTo>
                  <a:pt x="229316" y="22859"/>
                </a:moveTo>
                <a:lnTo>
                  <a:pt x="176784" y="22859"/>
                </a:lnTo>
                <a:lnTo>
                  <a:pt x="189642" y="23717"/>
                </a:lnTo>
                <a:lnTo>
                  <a:pt x="201930" y="26288"/>
                </a:lnTo>
                <a:lnTo>
                  <a:pt x="213645" y="30575"/>
                </a:lnTo>
                <a:lnTo>
                  <a:pt x="224790" y="36575"/>
                </a:lnTo>
                <a:lnTo>
                  <a:pt x="176784" y="112775"/>
                </a:lnTo>
                <a:lnTo>
                  <a:pt x="267462" y="60959"/>
                </a:lnTo>
                <a:lnTo>
                  <a:pt x="259651" y="49732"/>
                </a:lnTo>
                <a:lnTo>
                  <a:pt x="250126" y="39147"/>
                </a:lnTo>
                <a:lnTo>
                  <a:pt x="239172" y="29563"/>
                </a:lnTo>
                <a:lnTo>
                  <a:pt x="229316" y="22859"/>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1"/>
              <a:buFont typeface="Arial"/>
              <a:buNone/>
            </a:pPr>
            <a:endParaRPr sz="1801" b="0" i="0" u="none" strike="noStrike" cap="none">
              <a:solidFill>
                <a:schemeClr val="dk1"/>
              </a:solidFill>
              <a:latin typeface="Calibri"/>
              <a:ea typeface="Calibri"/>
              <a:cs typeface="Calibri"/>
              <a:sym typeface="Calibri"/>
            </a:endParaRPr>
          </a:p>
        </p:txBody>
      </p:sp>
      <p:sp>
        <p:nvSpPr>
          <p:cNvPr id="21" name="Google Shape;21;p3"/>
          <p:cNvSpPr/>
          <p:nvPr/>
        </p:nvSpPr>
        <p:spPr>
          <a:xfrm>
            <a:off x="7757160" y="4002072"/>
            <a:ext cx="367144" cy="12307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1"/>
              <a:buFont typeface="Arial"/>
              <a:buNone/>
            </a:pPr>
            <a:endParaRPr sz="1801" b="0" i="0" u="none" strike="noStrike" cap="none">
              <a:solidFill>
                <a:schemeClr val="dk1"/>
              </a:solidFill>
              <a:latin typeface="Calibri"/>
              <a:ea typeface="Calibri"/>
              <a:cs typeface="Calibri"/>
              <a:sym typeface="Calibri"/>
            </a:endParaRPr>
          </a:p>
        </p:txBody>
      </p:sp>
      <p:sp>
        <p:nvSpPr>
          <p:cNvPr id="22" name="Google Shape;22;p3"/>
          <p:cNvSpPr/>
          <p:nvPr/>
        </p:nvSpPr>
        <p:spPr>
          <a:xfrm>
            <a:off x="8149244" y="4002071"/>
            <a:ext cx="351905" cy="124592"/>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1"/>
              <a:buFont typeface="Arial"/>
              <a:buNone/>
            </a:pPr>
            <a:endParaRPr sz="1801" b="0" i="0" u="none" strike="noStrike" cap="none">
              <a:solidFill>
                <a:schemeClr val="dk1"/>
              </a:solidFill>
              <a:latin typeface="Calibri"/>
              <a:ea typeface="Calibri"/>
              <a:cs typeface="Calibri"/>
              <a:sym typeface="Calibri"/>
            </a:endParaRPr>
          </a:p>
        </p:txBody>
      </p:sp>
      <p:sp>
        <p:nvSpPr>
          <p:cNvPr id="23" name="Google Shape;23;p3"/>
          <p:cNvSpPr txBox="1">
            <a:spLocks noGrp="1"/>
          </p:cNvSpPr>
          <p:nvPr>
            <p:ph type="ctrTitle"/>
          </p:nvPr>
        </p:nvSpPr>
        <p:spPr>
          <a:xfrm>
            <a:off x="633385" y="1081647"/>
            <a:ext cx="7877232" cy="43088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subTitle" idx="1"/>
          </p:nvPr>
        </p:nvSpPr>
        <p:spPr>
          <a:xfrm>
            <a:off x="1371600" y="2881249"/>
            <a:ext cx="6400800" cy="27699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08960" y="4784933"/>
            <a:ext cx="2926080" cy="183365"/>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dt" idx="10"/>
          </p:nvPr>
        </p:nvSpPr>
        <p:spPr>
          <a:xfrm>
            <a:off x="4346401" y="4053849"/>
            <a:ext cx="452581" cy="21518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699" b="0" i="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6583680" y="4784933"/>
            <a:ext cx="2103120" cy="18336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1967577" y="1284423"/>
            <a:ext cx="5208847" cy="431015"/>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2801" b="0" i="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body" idx="1"/>
          </p:nvPr>
        </p:nvSpPr>
        <p:spPr>
          <a:xfrm>
            <a:off x="457200" y="1183370"/>
            <a:ext cx="3977640" cy="27699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2"/>
          </p:nvPr>
        </p:nvSpPr>
        <p:spPr>
          <a:xfrm>
            <a:off x="4709160" y="1183370"/>
            <a:ext cx="3977640" cy="27699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08960" y="4784933"/>
            <a:ext cx="2926080" cy="183365"/>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dt" idx="10"/>
          </p:nvPr>
        </p:nvSpPr>
        <p:spPr>
          <a:xfrm>
            <a:off x="4346401" y="4053849"/>
            <a:ext cx="452581" cy="21518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699" b="0" i="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6583680" y="4784933"/>
            <a:ext cx="2103120" cy="18336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415637" y="870126"/>
            <a:ext cx="8312728" cy="3404838"/>
          </a:xfrm>
          <a:custGeom>
            <a:avLst/>
            <a:gdLst/>
            <a:ahLst/>
            <a:cxnLst/>
            <a:rect l="l" t="t" r="r" b="b"/>
            <a:pathLst>
              <a:path w="9144000" h="5143500" extrusionOk="0">
                <a:moveTo>
                  <a:pt x="0" y="5143500"/>
                </a:moveTo>
                <a:lnTo>
                  <a:pt x="9144000" y="5143500"/>
                </a:lnTo>
                <a:lnTo>
                  <a:pt x="9144000" y="0"/>
                </a:lnTo>
                <a:lnTo>
                  <a:pt x="0" y="0"/>
                </a:lnTo>
                <a:lnTo>
                  <a:pt x="0" y="5143500"/>
                </a:lnTo>
                <a:close/>
              </a:path>
            </a:pathLst>
          </a:custGeom>
          <a:solidFill>
            <a:srgbClr val="4B4F5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1"/>
              <a:buFont typeface="Arial"/>
              <a:buNone/>
            </a:pPr>
            <a:endParaRPr sz="1801" b="0" i="0" u="none" strike="noStrike" cap="none">
              <a:solidFill>
                <a:schemeClr val="dk1"/>
              </a:solidFill>
              <a:latin typeface="Calibri"/>
              <a:ea typeface="Calibri"/>
              <a:cs typeface="Calibri"/>
              <a:sym typeface="Calibri"/>
            </a:endParaRPr>
          </a:p>
        </p:txBody>
      </p:sp>
      <p:sp>
        <p:nvSpPr>
          <p:cNvPr id="7" name="Google Shape;7;p1"/>
          <p:cNvSpPr txBox="1">
            <a:spLocks noGrp="1"/>
          </p:cNvSpPr>
          <p:nvPr>
            <p:ph type="title"/>
          </p:nvPr>
        </p:nvSpPr>
        <p:spPr>
          <a:xfrm>
            <a:off x="1967577" y="1284424"/>
            <a:ext cx="5208847" cy="43088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chemeClr val="lt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975939" y="1587580"/>
            <a:ext cx="7192124" cy="27699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Verdana"/>
                <a:ea typeface="Verdana"/>
                <a:cs typeface="Verdana"/>
                <a:sym typeface="Verdana"/>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08960" y="4784933"/>
            <a:ext cx="2926080" cy="183365"/>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400"/>
              <a:buFont typeface="Arial"/>
              <a:buNone/>
              <a:defRPr sz="1191"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dt" idx="10"/>
          </p:nvPr>
        </p:nvSpPr>
        <p:spPr>
          <a:xfrm>
            <a:off x="4346401" y="4053849"/>
            <a:ext cx="452581" cy="21518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699" b="0" i="0" u="none" strike="noStrike" cap="none">
                <a:solidFill>
                  <a:schemeClr val="lt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191"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sldNum" idx="12"/>
          </p:nvPr>
        </p:nvSpPr>
        <p:spPr>
          <a:xfrm>
            <a:off x="6583680" y="4784933"/>
            <a:ext cx="2103120" cy="183365"/>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191"/>
              <a:buFont typeface="Arial"/>
              <a:buNone/>
              <a:defRPr sz="1191"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38"/>
        <p:cNvGrpSpPr/>
        <p:nvPr/>
      </p:nvGrpSpPr>
      <p:grpSpPr>
        <a:xfrm>
          <a:off x="0" y="0"/>
          <a:ext cx="0" cy="0"/>
          <a:chOff x="0" y="0"/>
          <a:chExt cx="0" cy="0"/>
        </a:xfrm>
      </p:grpSpPr>
      <p:pic>
        <p:nvPicPr>
          <p:cNvPr id="2" name="Picture 1" descr="jurica-koletic-RcVzx4burTY-unsplash.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06593" y="0"/>
            <a:ext cx="4337407" cy="5145088"/>
          </a:xfrm>
          <a:prstGeom prst="rect">
            <a:avLst/>
          </a:prstGeom>
        </p:spPr>
      </p:pic>
      <p:sp>
        <p:nvSpPr>
          <p:cNvPr id="40" name="Google Shape;40;p5"/>
          <p:cNvSpPr txBox="1"/>
          <p:nvPr/>
        </p:nvSpPr>
        <p:spPr>
          <a:xfrm>
            <a:off x="-172292" y="935182"/>
            <a:ext cx="5126181" cy="227754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Example assignment brief</a:t>
            </a:r>
            <a:endParaRPr dirty="0"/>
          </a:p>
          <a:p>
            <a:pPr marL="0" marR="0" lvl="0" indent="0" algn="r" rtl="0">
              <a:lnSpc>
                <a:spcPct val="100000"/>
              </a:lnSpc>
              <a:spcBef>
                <a:spcPts val="0"/>
              </a:spcBef>
              <a:spcAft>
                <a:spcPts val="0"/>
              </a:spcAft>
              <a:buNone/>
            </a:pPr>
            <a:r>
              <a:rPr lang="en-GB" sz="1000" b="1" i="0" u="none" strike="noStrike" cap="none" dirty="0">
                <a:solidFill>
                  <a:srgbClr val="7F7F7F"/>
                </a:solidFill>
                <a:latin typeface="Open Sans"/>
                <a:ea typeface="Open Sans"/>
                <a:cs typeface="Open Sans"/>
                <a:sym typeface="Open Sans"/>
              </a:rPr>
              <a:t>for assessment unit B1 in:</a:t>
            </a:r>
            <a:endParaRPr b="1" dirty="0"/>
          </a:p>
          <a:p>
            <a:pPr marL="0" marR="0" lvl="0" indent="0" algn="r" rtl="0">
              <a:lnSpc>
                <a:spcPct val="100000"/>
              </a:lnSpc>
              <a:spcBef>
                <a:spcPts val="0"/>
              </a:spcBef>
              <a:spcAft>
                <a:spcPts val="0"/>
              </a:spcAft>
              <a:buNone/>
            </a:pPr>
            <a:endParaRPr sz="1200" b="1" dirty="0">
              <a:solidFill>
                <a:srgbClr val="7F7F7F"/>
              </a:solidFill>
              <a:latin typeface="Open Sans"/>
              <a:ea typeface="Open Sans"/>
              <a:cs typeface="Open Sans"/>
              <a:sym typeface="Open Sans"/>
            </a:endParaRPr>
          </a:p>
          <a:p>
            <a:pPr lvl="0" algn="r"/>
            <a:r>
              <a:rPr lang="en-US" sz="1200" b="1" dirty="0">
                <a:solidFill>
                  <a:srgbClr val="7F7F7F"/>
                </a:solidFill>
                <a:latin typeface="Open Sans"/>
                <a:ea typeface="Open Sans"/>
                <a:cs typeface="Open Sans"/>
                <a:sym typeface="Open Sans"/>
              </a:rPr>
              <a:t>BTEC Level 3 Extended Diploma in Art and Design Practice</a:t>
            </a:r>
            <a:endParaRPr lang="en-US" sz="1200" dirty="0"/>
          </a:p>
          <a:p>
            <a:pPr lvl="0" algn="r"/>
            <a:r>
              <a:rPr lang="en-US" sz="1200" b="1" dirty="0">
                <a:solidFill>
                  <a:srgbClr val="7F7F7F"/>
                </a:solidFill>
                <a:latin typeface="Open Sans"/>
                <a:ea typeface="Open Sans"/>
                <a:cs typeface="Open Sans"/>
                <a:sym typeface="Open Sans"/>
              </a:rPr>
              <a:t>BTEC Level 3 Extended Diploma in Creative Media Practice</a:t>
            </a:r>
            <a:endParaRPr lang="en-US" sz="1200" dirty="0"/>
          </a:p>
          <a:p>
            <a:pPr marL="0" marR="0" lvl="0" indent="0" algn="r" rtl="0">
              <a:lnSpc>
                <a:spcPct val="100000"/>
              </a:lnSpc>
              <a:spcBef>
                <a:spcPts val="0"/>
              </a:spcBef>
              <a:spcAft>
                <a:spcPts val="0"/>
              </a:spcAft>
              <a:buNone/>
            </a:pPr>
            <a:r>
              <a:rPr lang="en-GB" sz="6500" b="1" dirty="0">
                <a:solidFill>
                  <a:srgbClr val="31859B"/>
                </a:solidFill>
                <a:latin typeface="Playfair Display"/>
                <a:ea typeface="Playfair Display"/>
                <a:cs typeface="Playfair Display"/>
                <a:sym typeface="Playfair Display"/>
              </a:rPr>
              <a:t>Progression</a:t>
            </a:r>
            <a:endParaRPr sz="6500" b="1" i="0" u="none" strike="noStrike" cap="none" dirty="0">
              <a:solidFill>
                <a:srgbClr val="31859B"/>
              </a:solidFill>
              <a:latin typeface="Open Sans"/>
              <a:ea typeface="Open Sans"/>
              <a:cs typeface="Open Sans"/>
              <a:sym typeface="Open Sans"/>
            </a:endParaRPr>
          </a:p>
          <a:p>
            <a:pPr marL="0" marR="0" lvl="0" indent="0" algn="r" rtl="0">
              <a:lnSpc>
                <a:spcPct val="100000"/>
              </a:lnSpc>
              <a:spcBef>
                <a:spcPts val="0"/>
              </a:spcBef>
              <a:spcAft>
                <a:spcPts val="0"/>
              </a:spcAft>
              <a:buNone/>
            </a:pPr>
            <a:endParaRPr sz="1400" b="1" i="0" u="none" strike="noStrike" cap="none"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400" b="1" i="0" u="none" strike="noStrike" cap="none" dirty="0">
              <a:solidFill>
                <a:srgbClr val="538CD5"/>
              </a:solidFill>
              <a:latin typeface="Playfair Display"/>
              <a:ea typeface="Playfair Display"/>
              <a:cs typeface="Playfair Display"/>
              <a:sym typeface="Playfair Display"/>
            </a:endParaRPr>
          </a:p>
        </p:txBody>
      </p:sp>
      <p:pic>
        <p:nvPicPr>
          <p:cNvPr id="41" name="Google Shape;41;p5"/>
          <p:cNvPicPr preferRelativeResize="0"/>
          <p:nvPr/>
        </p:nvPicPr>
        <p:blipFill rotWithShape="1">
          <a:blip r:embed="rId4" cstate="print">
            <a:alphaModFix/>
            <a:extLst>
              <a:ext uri="{28A0092B-C50C-407E-A947-70E740481C1C}">
                <a14:useLocalDpi xmlns:a14="http://schemas.microsoft.com/office/drawing/2010/main"/>
              </a:ext>
            </a:extLst>
          </a:blip>
          <a:srcRect/>
          <a:stretch/>
        </p:blipFill>
        <p:spPr>
          <a:xfrm>
            <a:off x="7524924" y="114298"/>
            <a:ext cx="1736524" cy="382086"/>
          </a:xfrm>
          <a:prstGeom prst="rect">
            <a:avLst/>
          </a:prstGeom>
          <a:noFill/>
          <a:ln>
            <a:noFill/>
          </a:ln>
          <a:effectLst>
            <a:outerShdw blurRad="100013" dist="9525" dir="1920000" algn="bl" rotWithShape="0">
              <a:srgbClr val="FFFFFF"/>
            </a:outerShdw>
          </a:effectLst>
        </p:spPr>
      </p:pic>
      <p:pic>
        <p:nvPicPr>
          <p:cNvPr id="42" name="Google Shape;42;p5"/>
          <p:cNvPicPr preferRelativeResize="0"/>
          <p:nvPr/>
        </p:nvPicPr>
        <p:blipFill rotWithShape="1">
          <a:blip r:embed="rId4" cstate="print">
            <a:alphaModFix/>
            <a:extLst>
              <a:ext uri="{28A0092B-C50C-407E-A947-70E740481C1C}">
                <a14:useLocalDpi xmlns:a14="http://schemas.microsoft.com/office/drawing/2010/main"/>
              </a:ext>
            </a:extLst>
          </a:blip>
          <a:srcRect/>
          <a:stretch/>
        </p:blipFill>
        <p:spPr>
          <a:xfrm>
            <a:off x="7524924" y="114298"/>
            <a:ext cx="1736524" cy="382086"/>
          </a:xfrm>
          <a:prstGeom prst="rect">
            <a:avLst/>
          </a:prstGeom>
          <a:noFill/>
          <a:ln>
            <a:noFill/>
          </a:ln>
          <a:effectLst>
            <a:outerShdw blurRad="100013" dist="9525" dir="1920000" algn="bl" rotWithShape="0">
              <a:srgbClr val="FFFFFF"/>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46"/>
        <p:cNvGrpSpPr/>
        <p:nvPr/>
      </p:nvGrpSpPr>
      <p:grpSpPr>
        <a:xfrm>
          <a:off x="0" y="0"/>
          <a:ext cx="0" cy="0"/>
          <a:chOff x="0" y="0"/>
          <a:chExt cx="0" cy="0"/>
        </a:xfrm>
      </p:grpSpPr>
      <p:pic>
        <p:nvPicPr>
          <p:cNvPr id="47" name="Google Shape;47;p6"/>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7524924" y="114298"/>
            <a:ext cx="1736521" cy="382087"/>
          </a:xfrm>
          <a:prstGeom prst="rect">
            <a:avLst/>
          </a:prstGeom>
          <a:noFill/>
          <a:ln>
            <a:noFill/>
          </a:ln>
        </p:spPr>
      </p:pic>
      <p:sp>
        <p:nvSpPr>
          <p:cNvPr id="48" name="Google Shape;48;p6"/>
          <p:cNvSpPr txBox="1"/>
          <p:nvPr/>
        </p:nvSpPr>
        <p:spPr>
          <a:xfrm>
            <a:off x="2875374" y="935175"/>
            <a:ext cx="5436179" cy="4385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GB" sz="1000" dirty="0">
                <a:solidFill>
                  <a:srgbClr val="3C4043"/>
                </a:solidFill>
                <a:latin typeface="Open Sans"/>
                <a:ea typeface="Open Sans"/>
                <a:cs typeface="Open Sans"/>
                <a:sym typeface="Open Sans"/>
              </a:rPr>
              <a:t>This assignment has been designed to support delivery of unit </a:t>
            </a:r>
            <a:r>
              <a:rPr lang="en-GB" sz="1000" i="1" dirty="0">
                <a:solidFill>
                  <a:srgbClr val="3C4043"/>
                </a:solidFill>
                <a:latin typeface="Open Sans"/>
                <a:ea typeface="Open Sans"/>
                <a:cs typeface="Open Sans"/>
                <a:sym typeface="Open Sans"/>
              </a:rPr>
              <a:t>B1: Personal progression.</a:t>
            </a:r>
          </a:p>
          <a:p>
            <a:pPr marL="457200" lvl="0" indent="0" algn="l" rtl="0">
              <a:lnSpc>
                <a:spcPct val="100000"/>
              </a:lnSpc>
              <a:spcBef>
                <a:spcPts val="0"/>
              </a:spcBef>
              <a:spcAft>
                <a:spcPts val="0"/>
              </a:spcAft>
              <a:buNone/>
            </a:pPr>
            <a:endParaRPr sz="1000" dirty="0">
              <a:solidFill>
                <a:srgbClr val="3C4043"/>
              </a:solidFill>
              <a:latin typeface="Open Sans"/>
              <a:ea typeface="Open Sans"/>
              <a:cs typeface="Open Sans"/>
              <a:sym typeface="Open Sans"/>
            </a:endParaRPr>
          </a:p>
          <a:p>
            <a:pPr marL="0" marR="0" lvl="0" indent="0" algn="l" rtl="0">
              <a:lnSpc>
                <a:spcPct val="90000"/>
              </a:lnSpc>
              <a:spcBef>
                <a:spcPts val="0"/>
              </a:spcBef>
              <a:spcAft>
                <a:spcPts val="0"/>
              </a:spcAft>
              <a:buNone/>
            </a:pPr>
            <a:r>
              <a:rPr lang="en-GB" sz="1000" dirty="0">
                <a:solidFill>
                  <a:srgbClr val="7F7F7F"/>
                </a:solidFill>
                <a:latin typeface="Open Sans"/>
                <a:ea typeface="Open Sans"/>
                <a:cs typeface="Open Sans"/>
                <a:sym typeface="Open Sans"/>
              </a:rPr>
              <a:t>You</a:t>
            </a:r>
            <a:r>
              <a:rPr lang="en-GB" sz="1000" b="0" i="0" u="none" strike="noStrike" cap="none" dirty="0">
                <a:solidFill>
                  <a:srgbClr val="7F7F7F"/>
                </a:solidFill>
                <a:latin typeface="Open Sans"/>
                <a:ea typeface="Open Sans"/>
                <a:cs typeface="Open Sans"/>
                <a:sym typeface="Open Sans"/>
              </a:rPr>
              <a:t> should </a:t>
            </a:r>
            <a:r>
              <a:rPr lang="en-GB" sz="1000" dirty="0">
                <a:solidFill>
                  <a:srgbClr val="7F7F7F"/>
                </a:solidFill>
                <a:latin typeface="Open Sans"/>
                <a:ea typeface="Open Sans"/>
                <a:cs typeface="Open Sans"/>
                <a:sym typeface="Open Sans"/>
              </a:rPr>
              <a:t>ensure</a:t>
            </a:r>
            <a:r>
              <a:rPr lang="en-GB" sz="1000" b="0" i="0" u="none" strike="noStrike" cap="none" dirty="0">
                <a:solidFill>
                  <a:srgbClr val="7F7F7F"/>
                </a:solidFill>
                <a:latin typeface="Open Sans"/>
                <a:ea typeface="Open Sans"/>
                <a:cs typeface="Open Sans"/>
                <a:sym typeface="Open Sans"/>
              </a:rPr>
              <a:t> the following sections of th</a:t>
            </a:r>
            <a:r>
              <a:rPr lang="en-GB" sz="1000" dirty="0">
                <a:solidFill>
                  <a:srgbClr val="7F7F7F"/>
                </a:solidFill>
                <a:latin typeface="Open Sans"/>
                <a:ea typeface="Open Sans"/>
                <a:cs typeface="Open Sans"/>
                <a:sym typeface="Open Sans"/>
              </a:rPr>
              <a:t>is assignment brief are appropriate for your programme and learners, and adapt as necessary e.g.</a:t>
            </a:r>
            <a:r>
              <a:rPr lang="en-GB" sz="1000" b="0" i="0" u="none" strike="noStrike" cap="none" dirty="0">
                <a:solidFill>
                  <a:srgbClr val="7F7F7F"/>
                </a:solidFill>
                <a:latin typeface="Open Sans"/>
                <a:ea typeface="Open Sans"/>
                <a:cs typeface="Open Sans"/>
                <a:sym typeface="Open Sans"/>
              </a:rPr>
              <a:t>:</a:t>
            </a:r>
            <a:endParaRPr sz="1000" b="0" i="0" u="none" strike="noStrike" cap="none" dirty="0">
              <a:solidFill>
                <a:srgbClr val="7F7F7F"/>
              </a:solidFill>
              <a:latin typeface="Open Sans"/>
              <a:ea typeface="Open Sans"/>
              <a:cs typeface="Open Sans"/>
              <a:sym typeface="Open Sans"/>
            </a:endParaRPr>
          </a:p>
          <a:p>
            <a:pPr marL="0" marR="0" lvl="0" indent="0" algn="l" rtl="0">
              <a:lnSpc>
                <a:spcPct val="90000"/>
              </a:lnSpc>
              <a:spcBef>
                <a:spcPts val="0"/>
              </a:spcBef>
              <a:spcAft>
                <a:spcPts val="0"/>
              </a:spcAft>
              <a:buNone/>
            </a:pPr>
            <a:endParaRPr sz="1000" dirty="0">
              <a:solidFill>
                <a:srgbClr val="7F7F7F"/>
              </a:solidFill>
              <a:latin typeface="Open Sans"/>
              <a:ea typeface="Open Sans"/>
              <a:cs typeface="Open Sans"/>
              <a:sym typeface="Open Sans"/>
            </a:endParaRPr>
          </a:p>
          <a:p>
            <a:pPr marL="269999" marR="0" lvl="0" indent="-158750" algn="l" rtl="0">
              <a:lnSpc>
                <a:spcPct val="90000"/>
              </a:lnSpc>
              <a:spcBef>
                <a:spcPts val="0"/>
              </a:spcBef>
              <a:spcAft>
                <a:spcPts val="0"/>
              </a:spcAft>
              <a:buSzPts val="1000"/>
              <a:buChar char="●"/>
            </a:pPr>
            <a:r>
              <a:rPr lang="en-GB" sz="1000" b="1" i="0" u="none" strike="noStrike" cap="none" dirty="0">
                <a:solidFill>
                  <a:srgbClr val="31859B"/>
                </a:solidFill>
                <a:latin typeface="Playfair Display"/>
                <a:ea typeface="Playfair Display"/>
                <a:cs typeface="Playfair Display"/>
                <a:sym typeface="Playfair Display"/>
              </a:rPr>
              <a:t>Requirements: </a:t>
            </a:r>
            <a:r>
              <a:rPr lang="en-GB" sz="1000" b="0" i="0" u="none" strike="noStrike" cap="none" dirty="0">
                <a:solidFill>
                  <a:srgbClr val="7F7F7F"/>
                </a:solidFill>
                <a:latin typeface="Open Sans"/>
                <a:ea typeface="Open Sans"/>
                <a:cs typeface="Open Sans"/>
                <a:sym typeface="Open Sans"/>
              </a:rPr>
              <a:t>to indicate the types of media and outcomes.</a:t>
            </a:r>
            <a:endParaRPr dirty="0"/>
          </a:p>
          <a:p>
            <a:pPr marL="269999" marR="0" lvl="0" indent="-158750" algn="l" rtl="0">
              <a:lnSpc>
                <a:spcPct val="90000"/>
              </a:lnSpc>
              <a:spcBef>
                <a:spcPts val="0"/>
              </a:spcBef>
              <a:spcAft>
                <a:spcPts val="0"/>
              </a:spcAft>
              <a:buSzPts val="1000"/>
              <a:buChar char="●"/>
            </a:pPr>
            <a:r>
              <a:rPr lang="en-GB" sz="1000" b="1" i="0" u="none" strike="noStrike" cap="none" dirty="0">
                <a:solidFill>
                  <a:srgbClr val="31859B"/>
                </a:solidFill>
                <a:latin typeface="Playfair Display"/>
                <a:ea typeface="Playfair Display"/>
                <a:cs typeface="Playfair Display"/>
                <a:sym typeface="Playfair Display"/>
              </a:rPr>
              <a:t>Requirements – detail: </a:t>
            </a:r>
            <a:r>
              <a:rPr lang="en-GB" sz="1000" b="0" i="0" u="none" strike="noStrike" cap="none" dirty="0">
                <a:solidFill>
                  <a:srgbClr val="7F7F7F"/>
                </a:solidFill>
                <a:latin typeface="Open Sans"/>
                <a:ea typeface="Open Sans"/>
                <a:cs typeface="Open Sans"/>
                <a:sym typeface="Open Sans"/>
              </a:rPr>
              <a:t>to indicate the specific requirements for focused programmes, i.e. if the programme is fashion or games orientated, it would be advisable to set narrower outcome requirements.</a:t>
            </a:r>
            <a:endParaRPr dirty="0"/>
          </a:p>
          <a:p>
            <a:pPr marL="269999" marR="0" lvl="0" indent="-158750" algn="l" rtl="0">
              <a:lnSpc>
                <a:spcPct val="90000"/>
              </a:lnSpc>
              <a:spcBef>
                <a:spcPts val="0"/>
              </a:spcBef>
              <a:spcAft>
                <a:spcPts val="0"/>
              </a:spcAft>
              <a:buSzPts val="1000"/>
              <a:buChar char="●"/>
            </a:pPr>
            <a:r>
              <a:rPr lang="en-GB" sz="1000" b="1" i="0" u="none" strike="noStrike" cap="none" dirty="0">
                <a:solidFill>
                  <a:srgbClr val="31859B"/>
                </a:solidFill>
                <a:latin typeface="Playfair Display"/>
                <a:ea typeface="Playfair Display"/>
                <a:cs typeface="Playfair Display"/>
                <a:sym typeface="Playfair Display"/>
              </a:rPr>
              <a:t>Inspiration: </a:t>
            </a:r>
            <a:r>
              <a:rPr lang="en-GB" sz="1000" b="0" i="0" u="none" strike="noStrike" cap="none" dirty="0">
                <a:solidFill>
                  <a:srgbClr val="7F7F7F"/>
                </a:solidFill>
                <a:latin typeface="Open Sans"/>
                <a:ea typeface="Open Sans"/>
                <a:cs typeface="Open Sans"/>
                <a:sym typeface="Open Sans"/>
              </a:rPr>
              <a:t>to use examples of sources </a:t>
            </a:r>
            <a:r>
              <a:rPr lang="en-GB" sz="1000" dirty="0">
                <a:solidFill>
                  <a:srgbClr val="7F7F7F"/>
                </a:solidFill>
                <a:latin typeface="Open Sans"/>
                <a:ea typeface="Open Sans"/>
                <a:cs typeface="Open Sans"/>
                <a:sym typeface="Open Sans"/>
              </a:rPr>
              <a:t>relevant</a:t>
            </a:r>
            <a:r>
              <a:rPr lang="en-GB" sz="1000" b="0" i="0" u="none" strike="noStrike" cap="none" dirty="0">
                <a:solidFill>
                  <a:srgbClr val="7F7F7F"/>
                </a:solidFill>
                <a:latin typeface="Open Sans"/>
                <a:ea typeface="Open Sans"/>
                <a:cs typeface="Open Sans"/>
                <a:sym typeface="Open Sans"/>
              </a:rPr>
              <a:t> </a:t>
            </a:r>
            <a:r>
              <a:rPr lang="en-GB" sz="1000" dirty="0">
                <a:solidFill>
                  <a:srgbClr val="7F7F7F"/>
                </a:solidFill>
                <a:latin typeface="Open Sans"/>
                <a:ea typeface="Open Sans"/>
                <a:cs typeface="Open Sans"/>
                <a:sym typeface="Open Sans"/>
              </a:rPr>
              <a:t>to the </a:t>
            </a:r>
            <a:r>
              <a:rPr lang="en-GB" sz="1000" b="0" i="0" u="none" strike="noStrike" cap="none" dirty="0">
                <a:solidFill>
                  <a:srgbClr val="7F7F7F"/>
                </a:solidFill>
                <a:latin typeface="Open Sans"/>
                <a:ea typeface="Open Sans"/>
                <a:cs typeface="Open Sans"/>
                <a:sym typeface="Open Sans"/>
              </a:rPr>
              <a:t>programme.</a:t>
            </a:r>
            <a:endParaRPr dirty="0"/>
          </a:p>
          <a:p>
            <a:pPr marL="269999" marR="0" lvl="0" indent="-158750" algn="l" rtl="0">
              <a:lnSpc>
                <a:spcPct val="90000"/>
              </a:lnSpc>
              <a:spcBef>
                <a:spcPts val="0"/>
              </a:spcBef>
              <a:spcAft>
                <a:spcPts val="0"/>
              </a:spcAft>
              <a:buSzPts val="1000"/>
              <a:buChar char="●"/>
            </a:pPr>
            <a:r>
              <a:rPr lang="en-GB" sz="1000" b="1" i="0" u="none" strike="noStrike" cap="none" dirty="0">
                <a:solidFill>
                  <a:srgbClr val="31859B"/>
                </a:solidFill>
                <a:latin typeface="Playfair Display"/>
                <a:ea typeface="Playfair Display"/>
                <a:cs typeface="Playfair Display"/>
                <a:sym typeface="Playfair Display"/>
              </a:rPr>
              <a:t>Guidance: </a:t>
            </a:r>
            <a:r>
              <a:rPr lang="en-GB" sz="1000" b="0" i="0" u="none" strike="noStrike" cap="none" dirty="0">
                <a:solidFill>
                  <a:srgbClr val="7F7F7F"/>
                </a:solidFill>
                <a:latin typeface="Open Sans"/>
                <a:ea typeface="Open Sans"/>
                <a:cs typeface="Open Sans"/>
                <a:sym typeface="Open Sans"/>
              </a:rPr>
              <a:t>to indicate the specific expectations of how learners will develop and submit work. Additional </a:t>
            </a:r>
            <a:r>
              <a:rPr lang="en-GB" sz="1000" dirty="0">
                <a:solidFill>
                  <a:srgbClr val="7F7F7F"/>
                </a:solidFill>
                <a:latin typeface="Open Sans"/>
                <a:ea typeface="Open Sans"/>
                <a:cs typeface="Open Sans"/>
                <a:sym typeface="Open Sans"/>
              </a:rPr>
              <a:t>deadlines</a:t>
            </a:r>
            <a:r>
              <a:rPr lang="en-GB" sz="1000" b="0" i="0" u="none" strike="noStrike" cap="none" dirty="0">
                <a:solidFill>
                  <a:srgbClr val="7F7F7F"/>
                </a:solidFill>
                <a:latin typeface="Open Sans"/>
                <a:ea typeface="Open Sans"/>
                <a:cs typeface="Open Sans"/>
                <a:sym typeface="Open Sans"/>
              </a:rPr>
              <a:t> can be included for </a:t>
            </a:r>
            <a:r>
              <a:rPr lang="en-GB" sz="1000" dirty="0">
                <a:solidFill>
                  <a:srgbClr val="7F7F7F"/>
                </a:solidFill>
                <a:latin typeface="Open Sans"/>
                <a:ea typeface="Open Sans"/>
                <a:cs typeface="Open Sans"/>
                <a:sym typeface="Open Sans"/>
              </a:rPr>
              <a:t>different tasks within the assignment if needed</a:t>
            </a:r>
            <a:r>
              <a:rPr lang="en-GB" sz="1000" b="0" i="0" u="none" strike="noStrike" cap="none" dirty="0">
                <a:solidFill>
                  <a:srgbClr val="7F7F7F"/>
                </a:solidFill>
                <a:latin typeface="Open Sans"/>
                <a:ea typeface="Open Sans"/>
                <a:cs typeface="Open Sans"/>
                <a:sym typeface="Open Sans"/>
              </a:rPr>
              <a:t>.</a:t>
            </a:r>
            <a:endParaRPr sz="1000" b="0" i="0" u="none" strike="noStrike" cap="none" dirty="0">
              <a:solidFill>
                <a:srgbClr val="7F7F7F"/>
              </a:solidFill>
              <a:latin typeface="Open Sans"/>
              <a:ea typeface="Open Sans"/>
              <a:cs typeface="Open Sans"/>
              <a:sym typeface="Open Sans"/>
            </a:endParaRPr>
          </a:p>
          <a:p>
            <a:pPr marL="0" marR="0" lvl="0" indent="0" algn="l" rtl="0">
              <a:lnSpc>
                <a:spcPct val="90000"/>
              </a:lnSpc>
              <a:spcBef>
                <a:spcPts val="0"/>
              </a:spcBef>
              <a:spcAft>
                <a:spcPts val="0"/>
              </a:spcAft>
              <a:buNone/>
            </a:pPr>
            <a:endParaRPr sz="1000" b="0" i="0" u="none" strike="noStrike" cap="none" dirty="0">
              <a:solidFill>
                <a:srgbClr val="7F7F7F"/>
              </a:solidFill>
              <a:latin typeface="Open Sans"/>
              <a:ea typeface="Open Sans"/>
              <a:cs typeface="Open Sans"/>
              <a:sym typeface="Open Sans"/>
            </a:endParaRPr>
          </a:p>
          <a:p>
            <a:pPr marL="171450" marR="0" lvl="0" indent="-57150" algn="l" rtl="0">
              <a:lnSpc>
                <a:spcPct val="90000"/>
              </a:lnSpc>
              <a:spcBef>
                <a:spcPts val="0"/>
              </a:spcBef>
              <a:spcAft>
                <a:spcPts val="0"/>
              </a:spcAft>
              <a:buClr>
                <a:srgbClr val="000000"/>
              </a:buClr>
              <a:buSzPts val="1800"/>
              <a:buFont typeface="Arial"/>
              <a:buNone/>
            </a:pPr>
            <a:endParaRPr sz="1000" b="0" i="0" u="none" strike="noStrike" cap="none" dirty="0">
              <a:solidFill>
                <a:srgbClr val="7F7F7F"/>
              </a:solidFill>
              <a:latin typeface="Open Sans"/>
              <a:ea typeface="Open Sans"/>
              <a:cs typeface="Open Sans"/>
              <a:sym typeface="Open Sans"/>
            </a:endParaRPr>
          </a:p>
          <a:p>
            <a:pPr marL="0" marR="0" lvl="0" indent="0" algn="l" rtl="0">
              <a:lnSpc>
                <a:spcPct val="90000"/>
              </a:lnSpc>
              <a:spcBef>
                <a:spcPts val="0"/>
              </a:spcBef>
              <a:spcAft>
                <a:spcPts val="0"/>
              </a:spcAft>
              <a:buNone/>
            </a:pPr>
            <a:endParaRPr sz="1000" b="0" i="0" u="none" strike="noStrike" cap="none" dirty="0">
              <a:solidFill>
                <a:srgbClr val="7F7F7F"/>
              </a:solidFill>
              <a:latin typeface="Open Sans"/>
              <a:ea typeface="Open Sans"/>
              <a:cs typeface="Open Sans"/>
              <a:sym typeface="Open Sans"/>
            </a:endParaRPr>
          </a:p>
          <a:p>
            <a:pPr marL="0" marR="0" lvl="0" indent="0" algn="l" rtl="0">
              <a:lnSpc>
                <a:spcPct val="90000"/>
              </a:lnSpc>
              <a:spcBef>
                <a:spcPts val="0"/>
              </a:spcBef>
              <a:spcAft>
                <a:spcPts val="0"/>
              </a:spcAft>
              <a:buNone/>
            </a:pPr>
            <a:endParaRPr sz="1000" b="0" i="0" u="none" strike="noStrike" cap="none" dirty="0">
              <a:solidFill>
                <a:srgbClr val="7F7F7F"/>
              </a:solidFill>
              <a:latin typeface="Open Sans"/>
              <a:ea typeface="Open Sans"/>
              <a:cs typeface="Open Sans"/>
              <a:sym typeface="Open Sans"/>
            </a:endParaRPr>
          </a:p>
        </p:txBody>
      </p:sp>
      <p:sp>
        <p:nvSpPr>
          <p:cNvPr id="49" name="Google Shape;49;p6"/>
          <p:cNvSpPr txBox="1"/>
          <p:nvPr/>
        </p:nvSpPr>
        <p:spPr>
          <a:xfrm>
            <a:off x="6830644" y="468992"/>
            <a:ext cx="2615360"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800" b="1" dirty="0">
                <a:solidFill>
                  <a:srgbClr val="31859B"/>
                </a:solidFill>
                <a:latin typeface="Playfair Display"/>
                <a:ea typeface="Playfair Display"/>
                <a:cs typeface="Playfair Display"/>
                <a:sym typeface="Playfair Display"/>
              </a:rPr>
              <a:t>Progression</a:t>
            </a:r>
            <a:endParaRPr sz="2800" b="1" i="0" u="none" strike="noStrike" cap="none" dirty="0">
              <a:solidFill>
                <a:srgbClr val="31859B"/>
              </a:solidFill>
              <a:latin typeface="Open Sans"/>
              <a:ea typeface="Open Sans"/>
              <a:cs typeface="Open Sans"/>
              <a:sym typeface="Open Sans"/>
            </a:endParaRPr>
          </a:p>
          <a:p>
            <a:pPr marL="0" marR="0" lvl="0" indent="0" algn="l" rtl="0">
              <a:lnSpc>
                <a:spcPct val="100000"/>
              </a:lnSpc>
              <a:spcBef>
                <a:spcPts val="0"/>
              </a:spcBef>
              <a:spcAft>
                <a:spcPts val="0"/>
              </a:spcAft>
              <a:buNone/>
            </a:pPr>
            <a:endParaRPr lang="en-GB"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cxnSp>
        <p:nvCxnSpPr>
          <p:cNvPr id="50" name="Google Shape;50;p6"/>
          <p:cNvCxnSpPr/>
          <p:nvPr/>
        </p:nvCxnSpPr>
        <p:spPr>
          <a:xfrm>
            <a:off x="7589775" y="494051"/>
            <a:ext cx="1485799" cy="2334"/>
          </a:xfrm>
          <a:prstGeom prst="straightConnector1">
            <a:avLst/>
          </a:prstGeom>
          <a:noFill/>
          <a:ln w="19050" cap="flat" cmpd="sng">
            <a:solidFill>
              <a:srgbClr val="31859B"/>
            </a:solidFill>
            <a:prstDash val="solid"/>
            <a:round/>
            <a:headEnd type="none" w="sm" len="sm"/>
            <a:tailEnd type="none" w="sm" len="sm"/>
          </a:ln>
        </p:spPr>
      </p:cxnSp>
      <p:cxnSp>
        <p:nvCxnSpPr>
          <p:cNvPr id="51" name="Google Shape;51;p6"/>
          <p:cNvCxnSpPr/>
          <p:nvPr/>
        </p:nvCxnSpPr>
        <p:spPr>
          <a:xfrm>
            <a:off x="2857185" y="935182"/>
            <a:ext cx="0" cy="3463636"/>
          </a:xfrm>
          <a:prstGeom prst="straightConnector1">
            <a:avLst/>
          </a:prstGeom>
          <a:noFill/>
          <a:ln w="28575" cap="flat" cmpd="sng">
            <a:solidFill>
              <a:srgbClr val="31859B"/>
            </a:solidFill>
            <a:prstDash val="solid"/>
            <a:round/>
            <a:headEnd type="none" w="sm" len="sm"/>
            <a:tailEnd type="none" w="sm" len="sm"/>
          </a:ln>
        </p:spPr>
      </p:cxnSp>
      <p:sp>
        <p:nvSpPr>
          <p:cNvPr id="52" name="Google Shape;52;p6"/>
          <p:cNvSpPr txBox="1"/>
          <p:nvPr/>
        </p:nvSpPr>
        <p:spPr>
          <a:xfrm>
            <a:off x="538225" y="935175"/>
            <a:ext cx="2185800" cy="4385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r>
              <a:rPr lang="en-GB" sz="1000" b="1" i="0" u="none" strike="noStrike" cap="none">
                <a:solidFill>
                  <a:srgbClr val="31859B"/>
                </a:solidFill>
                <a:latin typeface="Playfair Display"/>
                <a:ea typeface="Playfair Display"/>
                <a:cs typeface="Playfair Display"/>
                <a:sym typeface="Playfair Display"/>
              </a:rPr>
              <a:t>Guidance for teachers on using example assignment briefs </a:t>
            </a:r>
            <a:endParaRPr/>
          </a:p>
          <a:p>
            <a:pPr marL="0" marR="0" lvl="0" indent="0" algn="l" rtl="0">
              <a:lnSpc>
                <a:spcPct val="90000"/>
              </a:lnSpc>
              <a:spcBef>
                <a:spcPts val="0"/>
              </a:spcBef>
              <a:spcAft>
                <a:spcPts val="0"/>
              </a:spcAft>
              <a:buNone/>
            </a:pPr>
            <a:r>
              <a:rPr lang="en-GB" sz="1000" b="1" i="1" u="none" strike="noStrike" cap="none">
                <a:solidFill>
                  <a:srgbClr val="31859B"/>
                </a:solidFill>
                <a:latin typeface="Playfair Display"/>
                <a:ea typeface="Playfair Display"/>
                <a:cs typeface="Playfair Display"/>
                <a:sym typeface="Playfair Display"/>
              </a:rPr>
              <a:t>(delete slide </a:t>
            </a:r>
            <a:r>
              <a:rPr lang="en-GB" sz="1000" b="1" i="1">
                <a:solidFill>
                  <a:srgbClr val="31859B"/>
                </a:solidFill>
                <a:latin typeface="Playfair Display"/>
                <a:ea typeface="Playfair Display"/>
                <a:cs typeface="Playfair Display"/>
                <a:sym typeface="Playfair Display"/>
              </a:rPr>
              <a:t>prior to </a:t>
            </a:r>
            <a:r>
              <a:rPr lang="en-GB" sz="1000" b="1" i="1" u="none" strike="noStrike" cap="none">
                <a:solidFill>
                  <a:srgbClr val="31859B"/>
                </a:solidFill>
                <a:latin typeface="Playfair Display"/>
                <a:ea typeface="Playfair Display"/>
                <a:cs typeface="Playfair Display"/>
                <a:sym typeface="Playfair Display"/>
              </a:rPr>
              <a:t>handing out to learners)</a:t>
            </a:r>
            <a:endParaRPr sz="1000" b="1" i="1" u="none" strike="noStrike" cap="none">
              <a:solidFill>
                <a:srgbClr val="31859B"/>
              </a:solidFill>
              <a:latin typeface="Open Sans"/>
              <a:ea typeface="Open Sans"/>
              <a:cs typeface="Open Sans"/>
              <a:sym typeface="Open Sans"/>
            </a:endParaRPr>
          </a:p>
          <a:p>
            <a:pPr marL="0" marR="0" lvl="0" indent="0" algn="l" rtl="0">
              <a:lnSpc>
                <a:spcPct val="90000"/>
              </a:lnSpc>
              <a:spcBef>
                <a:spcPts val="0"/>
              </a:spcBef>
              <a:spcAft>
                <a:spcPts val="0"/>
              </a:spcAft>
              <a:buNone/>
            </a:pPr>
            <a:endParaRPr sz="1000" b="0" i="0" u="none" strike="noStrike" cap="none">
              <a:solidFill>
                <a:srgbClr val="7F7F7F"/>
              </a:solidFill>
              <a:latin typeface="Open Sans"/>
              <a:ea typeface="Open Sans"/>
              <a:cs typeface="Open Sans"/>
              <a:sym typeface="Open Sans"/>
            </a:endParaRPr>
          </a:p>
          <a:p>
            <a:pPr marL="0" marR="0" lvl="0" indent="0" algn="l" rtl="0">
              <a:lnSpc>
                <a:spcPct val="90000"/>
              </a:lnSpc>
              <a:spcBef>
                <a:spcPts val="0"/>
              </a:spcBef>
              <a:spcAft>
                <a:spcPts val="0"/>
              </a:spcAft>
              <a:buNone/>
            </a:pPr>
            <a:r>
              <a:rPr lang="en-GB" sz="1000" b="0" i="0" u="none" strike="noStrike" cap="none">
                <a:solidFill>
                  <a:srgbClr val="7F7F7F"/>
                </a:solidFill>
                <a:latin typeface="Open Sans"/>
                <a:ea typeface="Open Sans"/>
                <a:cs typeface="Open Sans"/>
                <a:sym typeface="Open Sans"/>
              </a:rPr>
              <a:t>Example Assignment Briefs (EABs) are provided for use and guidance. They have been developed</a:t>
            </a:r>
            <a:r>
              <a:rPr lang="en-GB" sz="1000">
                <a:solidFill>
                  <a:srgbClr val="7F7F7F"/>
                </a:solidFill>
                <a:latin typeface="Open Sans"/>
                <a:ea typeface="Open Sans"/>
                <a:cs typeface="Open Sans"/>
                <a:sym typeface="Open Sans"/>
              </a:rPr>
              <a:t> </a:t>
            </a:r>
            <a:r>
              <a:rPr lang="en-GB" sz="1000" b="0" i="0" u="none" strike="noStrike" cap="none">
                <a:solidFill>
                  <a:srgbClr val="7F7F7F"/>
                </a:solidFill>
                <a:latin typeface="Open Sans"/>
                <a:ea typeface="Open Sans"/>
                <a:cs typeface="Open Sans"/>
                <a:sym typeface="Open Sans"/>
              </a:rPr>
              <a:t>to provide realistic vocational scenarios as client briefs. The content demonstrates how briefs can be used for assignments </a:t>
            </a:r>
            <a:r>
              <a:rPr lang="en-GB" sz="1000">
                <a:solidFill>
                  <a:srgbClr val="7F7F7F"/>
                </a:solidFill>
                <a:latin typeface="Open Sans"/>
                <a:ea typeface="Open Sans"/>
                <a:cs typeface="Open Sans"/>
                <a:sym typeface="Open Sans"/>
              </a:rPr>
              <a:t>for all </a:t>
            </a:r>
            <a:r>
              <a:rPr lang="en-GB" sz="1000" b="0" i="0" u="none" strike="noStrike" cap="none">
                <a:solidFill>
                  <a:srgbClr val="7F7F7F"/>
                </a:solidFill>
                <a:latin typeface="Open Sans"/>
                <a:ea typeface="Open Sans"/>
                <a:cs typeface="Open Sans"/>
                <a:sym typeface="Open Sans"/>
              </a:rPr>
              <a:t>or part of assessment units.</a:t>
            </a:r>
            <a:endParaRPr sz="1000" b="0" i="0" u="none" strike="noStrike" cap="none">
              <a:solidFill>
                <a:srgbClr val="7F7F7F"/>
              </a:solidFill>
              <a:latin typeface="Open Sans"/>
              <a:ea typeface="Open Sans"/>
              <a:cs typeface="Open Sans"/>
              <a:sym typeface="Open Sans"/>
            </a:endParaRPr>
          </a:p>
          <a:p>
            <a:pPr marL="0" marR="0" lvl="0" indent="0" algn="l" rtl="0">
              <a:lnSpc>
                <a:spcPct val="90000"/>
              </a:lnSpc>
              <a:spcBef>
                <a:spcPts val="0"/>
              </a:spcBef>
              <a:spcAft>
                <a:spcPts val="0"/>
              </a:spcAft>
              <a:buNone/>
            </a:pPr>
            <a:endParaRPr sz="1000">
              <a:solidFill>
                <a:srgbClr val="7F7F7F"/>
              </a:solidFill>
              <a:latin typeface="Open Sans"/>
              <a:ea typeface="Open Sans"/>
              <a:cs typeface="Open Sans"/>
              <a:sym typeface="Open Sans"/>
            </a:endParaRPr>
          </a:p>
          <a:p>
            <a:pPr marL="0" marR="0" lvl="0" indent="0" algn="l" rtl="0">
              <a:lnSpc>
                <a:spcPct val="90000"/>
              </a:lnSpc>
              <a:spcBef>
                <a:spcPts val="0"/>
              </a:spcBef>
              <a:spcAft>
                <a:spcPts val="0"/>
              </a:spcAft>
              <a:buNone/>
            </a:pPr>
            <a:r>
              <a:rPr lang="en-GB" sz="1000">
                <a:solidFill>
                  <a:srgbClr val="7F7F7F"/>
                </a:solidFill>
                <a:latin typeface="Open Sans"/>
                <a:ea typeface="Open Sans"/>
                <a:cs typeface="Open Sans"/>
                <a:sym typeface="Open Sans"/>
              </a:rPr>
              <a:t>EABs can be adapted in any way to meet the needs of your learners and programme, however they must maintain the required features of an assignment for a BTEC qualification. Please see the Delivery Guide for this qualification for more information on setting and adapting assignments.</a:t>
            </a:r>
            <a:endParaRPr sz="1000">
              <a:solidFill>
                <a:srgbClr val="7F7F7F"/>
              </a:solidFill>
              <a:latin typeface="Open Sans"/>
              <a:ea typeface="Open Sans"/>
              <a:cs typeface="Open Sans"/>
              <a:sym typeface="Open Sans"/>
            </a:endParaRPr>
          </a:p>
          <a:p>
            <a:pPr marL="0" marR="0" lvl="0" indent="0" algn="l" rtl="0">
              <a:lnSpc>
                <a:spcPct val="90000"/>
              </a:lnSpc>
              <a:spcBef>
                <a:spcPts val="0"/>
              </a:spcBef>
              <a:spcAft>
                <a:spcPts val="0"/>
              </a:spcAft>
              <a:buNone/>
            </a:pPr>
            <a:endParaRPr/>
          </a:p>
          <a:p>
            <a:pPr marL="0" marR="0" lvl="0" indent="0" algn="l" rtl="0">
              <a:lnSpc>
                <a:spcPct val="90000"/>
              </a:lnSpc>
              <a:spcBef>
                <a:spcPts val="0"/>
              </a:spcBef>
              <a:spcAft>
                <a:spcPts val="0"/>
              </a:spcAft>
              <a:buNone/>
            </a:pPr>
            <a:endParaRPr sz="1000" b="0" i="0" u="none" strike="noStrike" cap="none">
              <a:solidFill>
                <a:srgbClr val="7F7F7F"/>
              </a:solidFill>
              <a:latin typeface="Open Sans"/>
              <a:ea typeface="Open Sans"/>
              <a:cs typeface="Open Sans"/>
              <a:sym typeface="Open Sans"/>
            </a:endParaRPr>
          </a:p>
          <a:p>
            <a:pPr marL="171450" marR="0" lvl="0" indent="-57150" algn="l" rtl="0">
              <a:lnSpc>
                <a:spcPct val="90000"/>
              </a:lnSpc>
              <a:spcBef>
                <a:spcPts val="0"/>
              </a:spcBef>
              <a:spcAft>
                <a:spcPts val="0"/>
              </a:spcAft>
              <a:buClr>
                <a:srgbClr val="000000"/>
              </a:buClr>
              <a:buSzPts val="1800"/>
              <a:buFont typeface="Arial"/>
              <a:buNone/>
            </a:pPr>
            <a:endParaRPr sz="1000" b="0" i="0" u="none" strike="noStrike" cap="none">
              <a:solidFill>
                <a:srgbClr val="7F7F7F"/>
              </a:solidFill>
              <a:latin typeface="Open Sans"/>
              <a:ea typeface="Open Sans"/>
              <a:cs typeface="Open Sans"/>
              <a:sym typeface="Open Sans"/>
            </a:endParaRPr>
          </a:p>
          <a:p>
            <a:pPr marL="0" marR="0" lvl="0" indent="0" algn="l" rtl="0">
              <a:lnSpc>
                <a:spcPct val="90000"/>
              </a:lnSpc>
              <a:spcBef>
                <a:spcPts val="0"/>
              </a:spcBef>
              <a:spcAft>
                <a:spcPts val="0"/>
              </a:spcAft>
              <a:buNone/>
            </a:pPr>
            <a:endParaRPr sz="1000" b="0" i="0" u="none" strike="noStrike" cap="none">
              <a:solidFill>
                <a:srgbClr val="7F7F7F"/>
              </a:solidFill>
              <a:latin typeface="Open Sans"/>
              <a:ea typeface="Open Sans"/>
              <a:cs typeface="Open Sans"/>
              <a:sym typeface="Open Sans"/>
            </a:endParaRPr>
          </a:p>
          <a:p>
            <a:pPr marL="0" marR="0" lvl="0" indent="0" algn="l" rtl="0">
              <a:lnSpc>
                <a:spcPct val="90000"/>
              </a:lnSpc>
              <a:spcBef>
                <a:spcPts val="0"/>
              </a:spcBef>
              <a:spcAft>
                <a:spcPts val="0"/>
              </a:spcAft>
              <a:buNone/>
            </a:pPr>
            <a:endParaRPr sz="1000" b="0" i="0" u="none" strike="noStrike" cap="none">
              <a:solidFill>
                <a:srgbClr val="7F7F7F"/>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56"/>
        <p:cNvGrpSpPr/>
        <p:nvPr/>
      </p:nvGrpSpPr>
      <p:grpSpPr>
        <a:xfrm>
          <a:off x="0" y="0"/>
          <a:ext cx="0" cy="0"/>
          <a:chOff x="0" y="0"/>
          <a:chExt cx="0" cy="0"/>
        </a:xfrm>
      </p:grpSpPr>
      <p:sp>
        <p:nvSpPr>
          <p:cNvPr id="58" name="Google Shape;58;p7"/>
          <p:cNvSpPr txBox="1"/>
          <p:nvPr/>
        </p:nvSpPr>
        <p:spPr>
          <a:xfrm>
            <a:off x="2956799" y="692638"/>
            <a:ext cx="5164073" cy="509901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000"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Context</a:t>
            </a:r>
            <a:endParaRPr dirty="0"/>
          </a:p>
          <a:p>
            <a:r>
              <a:rPr lang="uz-Cyrl-UZ" sz="1000" dirty="0">
                <a:solidFill>
                  <a:srgbClr val="7F7F7F"/>
                </a:solidFill>
                <a:latin typeface="Open Sans"/>
                <a:ea typeface="Open Sans"/>
                <a:cs typeface="Open Sans"/>
              </a:rPr>
              <a:t>In a</a:t>
            </a:r>
            <a:r>
              <a:rPr lang="en-GB" sz="1000" dirty="0">
                <a:solidFill>
                  <a:srgbClr val="7F7F7F"/>
                </a:solidFill>
                <a:latin typeface="Open Sans"/>
                <a:ea typeface="Open Sans"/>
                <a:cs typeface="Open Sans"/>
              </a:rPr>
              <a:t>n increasingly</a:t>
            </a:r>
            <a:r>
              <a:rPr lang="uz-Cyrl-UZ" sz="1000" dirty="0">
                <a:solidFill>
                  <a:srgbClr val="7F7F7F"/>
                </a:solidFill>
                <a:latin typeface="Open Sans"/>
                <a:ea typeface="Open Sans"/>
                <a:cs typeface="Open Sans"/>
              </a:rPr>
              <a:t> digitally focused industry, a </a:t>
            </a:r>
            <a:r>
              <a:rPr lang="en-US" sz="1000" dirty="0">
                <a:solidFill>
                  <a:srgbClr val="7F7F7F"/>
                </a:solidFill>
                <a:latin typeface="Open Sans"/>
                <a:ea typeface="Open Sans"/>
                <a:cs typeface="Open Sans"/>
              </a:rPr>
              <a:t>personal brand identity, both online and in physical promotional materials, </a:t>
            </a:r>
            <a:r>
              <a:rPr lang="uz-Cyrl-UZ" sz="1000" dirty="0">
                <a:solidFill>
                  <a:srgbClr val="7F7F7F"/>
                </a:solidFill>
                <a:latin typeface="Open Sans"/>
                <a:ea typeface="Open Sans"/>
                <a:cs typeface="Open Sans"/>
              </a:rPr>
              <a:t>is essential in being a successful creative professional. You are planning to take your next step into higher education or further work experience, and are required to put together materials to promote yourself to employers, clients and/or universities.</a:t>
            </a:r>
            <a:r>
              <a:rPr lang="en-GB" sz="1000" dirty="0">
                <a:solidFill>
                  <a:srgbClr val="7F7F7F"/>
                </a:solidFill>
                <a:latin typeface="Open Sans"/>
                <a:ea typeface="Open Sans"/>
                <a:cs typeface="Open Sans"/>
              </a:rPr>
              <a:t> </a:t>
            </a:r>
            <a:r>
              <a:rPr lang="uz-Cyrl-UZ" sz="1000" dirty="0">
                <a:solidFill>
                  <a:srgbClr val="7F7F7F"/>
                </a:solidFill>
                <a:latin typeface="Open Sans"/>
                <a:ea typeface="Open Sans"/>
                <a:cs typeface="Open Sans"/>
              </a:rPr>
              <a:t> </a:t>
            </a:r>
            <a:endParaRPr lang="en-GB" sz="1000" dirty="0">
              <a:solidFill>
                <a:srgbClr val="7F7F7F"/>
              </a:solidFill>
              <a:latin typeface="Open Sans"/>
              <a:ea typeface="Open Sans"/>
              <a:cs typeface="Open Sans"/>
            </a:endParaRPr>
          </a:p>
          <a:p>
            <a:endParaRPr sz="1000" dirty="0">
              <a:latin typeface="Open Sans"/>
              <a:ea typeface="Open Sans"/>
              <a:cs typeface="Open Sans"/>
              <a:sym typeface="Open Sans"/>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Requirements</a:t>
            </a:r>
            <a:endParaRPr dirty="0"/>
          </a:p>
          <a:p>
            <a:pPr>
              <a:buSzPts val="1000"/>
            </a:pPr>
            <a:r>
              <a:rPr lang="en-GB" sz="1000" dirty="0">
                <a:solidFill>
                  <a:srgbClr val="7F7F7F"/>
                </a:solidFill>
                <a:latin typeface="Open Sans"/>
                <a:ea typeface="Open Sans"/>
                <a:cs typeface="Open Sans"/>
              </a:rPr>
              <a:t>Self - promotional progression materials including on</a:t>
            </a:r>
            <a:r>
              <a:rPr lang="en-GB" sz="1000" dirty="0">
                <a:solidFill>
                  <a:srgbClr val="7F7F7F"/>
                </a:solidFill>
                <a:latin typeface="Open Sans"/>
                <a:ea typeface="Open Sans"/>
                <a:cs typeface="Open Sans"/>
                <a:sym typeface="Open Sans"/>
              </a:rPr>
              <a:t>line personal brand identity</a:t>
            </a:r>
            <a:endParaRPr sz="1000" dirty="0">
              <a:solidFill>
                <a:srgbClr val="7F7F7F"/>
              </a:solidFill>
              <a:latin typeface="Open Sans"/>
              <a:ea typeface="Open Sans"/>
              <a:cs typeface="Open Sans"/>
              <a:sym typeface="Open Sans"/>
            </a:endParaRPr>
          </a:p>
          <a:p>
            <a:pPr marL="457200" marR="0" lvl="0" indent="0" algn="l" rtl="0">
              <a:lnSpc>
                <a:spcPct val="100000"/>
              </a:lnSpc>
              <a:spcBef>
                <a:spcPts val="0"/>
              </a:spcBef>
              <a:spcAft>
                <a:spcPts val="0"/>
              </a:spcAft>
              <a:buNone/>
            </a:pPr>
            <a:endParaRPr sz="1000"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Audience</a:t>
            </a:r>
            <a:endParaRPr dirty="0"/>
          </a:p>
          <a:p>
            <a:pPr marL="0" marR="0" lvl="0" indent="0" algn="l" rtl="0">
              <a:lnSpc>
                <a:spcPct val="100000"/>
              </a:lnSpc>
              <a:spcBef>
                <a:spcPts val="0"/>
              </a:spcBef>
              <a:spcAft>
                <a:spcPts val="0"/>
              </a:spcAft>
              <a:buNone/>
            </a:pPr>
            <a:r>
              <a:rPr lang="en-GB" sz="1000" b="0" i="0" u="none" strike="noStrike" cap="none" dirty="0">
                <a:solidFill>
                  <a:srgbClr val="7F7F7F"/>
                </a:solidFill>
                <a:latin typeface="Open Sans"/>
                <a:ea typeface="Open Sans"/>
                <a:cs typeface="Open Sans"/>
                <a:sym typeface="Open Sans"/>
              </a:rPr>
              <a:t>The primary target audience is for future employers, work experience placements, clients or higher education providers.</a:t>
            </a:r>
            <a:endParaRPr sz="1000" b="0" i="0" u="none" strike="noStrike" cap="none"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r>
              <a:rPr lang="en-GB" sz="1000" b="0" i="0" u="none" strike="noStrike" cap="none" dirty="0">
                <a:solidFill>
                  <a:srgbClr val="7F7F7F"/>
                </a:solidFill>
                <a:latin typeface="Open Sans"/>
                <a:ea typeface="Open Sans"/>
                <a:cs typeface="Open Sans"/>
                <a:sym typeface="Open Sans"/>
              </a:rPr>
              <a:t> </a:t>
            </a:r>
            <a:endParaRPr sz="1000"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Deadline</a:t>
            </a:r>
            <a:endParaRPr dirty="0"/>
          </a:p>
          <a:p>
            <a:pPr marL="0" marR="0" lvl="0" indent="0" algn="l" rtl="0">
              <a:lnSpc>
                <a:spcPct val="100000"/>
              </a:lnSpc>
              <a:spcBef>
                <a:spcPts val="0"/>
              </a:spcBef>
              <a:spcAft>
                <a:spcPts val="0"/>
              </a:spcAft>
              <a:buNone/>
            </a:pPr>
            <a:r>
              <a:rPr lang="en-GB" sz="1000" b="0" i="1" u="none" strike="noStrike" cap="none" dirty="0">
                <a:solidFill>
                  <a:srgbClr val="7F7F7F"/>
                </a:solidFill>
                <a:latin typeface="Open Sans"/>
                <a:ea typeface="Open Sans"/>
                <a:cs typeface="Open Sans"/>
                <a:sym typeface="Open Sans"/>
              </a:rPr>
              <a:t>To be completed by assessor.</a:t>
            </a:r>
            <a:endParaRPr sz="1000" b="0" i="1" u="none" strike="noStrike" cap="none"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000" i="1"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Resubmission deadline</a:t>
            </a:r>
            <a:endParaRPr sz="1400" b="1" i="0" u="none" strike="noStrike" cap="none" dirty="0">
              <a:solidFill>
                <a:srgbClr val="31859B"/>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r>
              <a:rPr lang="en-GB" sz="1000" b="0" i="1" u="none" strike="noStrike" cap="none" dirty="0">
                <a:solidFill>
                  <a:srgbClr val="7F7F7F"/>
                </a:solidFill>
                <a:latin typeface="Open Sans"/>
                <a:ea typeface="Open Sans"/>
                <a:cs typeface="Open Sans"/>
                <a:sym typeface="Open Sans"/>
              </a:rPr>
              <a:t>To be completed by assessor.</a:t>
            </a:r>
            <a:endParaRPr sz="1000" b="0" i="1" u="none" strike="noStrike" cap="none"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000" i="1"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Assessor</a:t>
            </a:r>
            <a:endParaRPr sz="1400" b="1" i="0" u="none" strike="noStrike" cap="none" dirty="0">
              <a:solidFill>
                <a:srgbClr val="31859B"/>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r>
              <a:rPr lang="en-GB" sz="1000" b="0" i="1" u="none" strike="noStrike" cap="none" dirty="0">
                <a:solidFill>
                  <a:srgbClr val="7F7F7F"/>
                </a:solidFill>
                <a:latin typeface="Open Sans"/>
                <a:ea typeface="Open Sans"/>
                <a:cs typeface="Open Sans"/>
                <a:sym typeface="Open Sans"/>
              </a:rPr>
              <a:t>To be completed by assessor.</a:t>
            </a:r>
            <a:endParaRPr sz="1000" b="0" i="1" u="none" strike="noStrike" cap="none" dirty="0">
              <a:solidFill>
                <a:srgbClr val="7F7F7F"/>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endParaRPr sz="1000" b="0" i="1" u="none" strike="noStrike" cap="none" dirty="0">
              <a:solidFill>
                <a:srgbClr val="7F7F7F"/>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endParaRPr sz="1400" b="1" i="0" u="none" strike="noStrike" cap="none"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400" b="1" i="0" u="none" strike="noStrike" cap="none" dirty="0">
              <a:solidFill>
                <a:srgbClr val="538CD5"/>
              </a:solidFill>
              <a:latin typeface="Playfair Display"/>
              <a:ea typeface="Playfair Display"/>
              <a:cs typeface="Playfair Display"/>
              <a:sym typeface="Playfair Display"/>
            </a:endParaRPr>
          </a:p>
        </p:txBody>
      </p:sp>
      <p:pic>
        <p:nvPicPr>
          <p:cNvPr id="59" name="Google Shape;59;p7"/>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7524924" y="114298"/>
            <a:ext cx="1736521" cy="382087"/>
          </a:xfrm>
          <a:prstGeom prst="rect">
            <a:avLst/>
          </a:prstGeom>
          <a:noFill/>
          <a:ln>
            <a:noFill/>
          </a:ln>
        </p:spPr>
      </p:pic>
      <p:cxnSp>
        <p:nvCxnSpPr>
          <p:cNvPr id="61" name="Google Shape;61;p7"/>
          <p:cNvCxnSpPr/>
          <p:nvPr/>
        </p:nvCxnSpPr>
        <p:spPr>
          <a:xfrm>
            <a:off x="7589775" y="494051"/>
            <a:ext cx="1485799" cy="2334"/>
          </a:xfrm>
          <a:prstGeom prst="straightConnector1">
            <a:avLst/>
          </a:prstGeom>
          <a:noFill/>
          <a:ln w="19050" cap="flat" cmpd="sng">
            <a:solidFill>
              <a:srgbClr val="31859B"/>
            </a:solidFill>
            <a:prstDash val="solid"/>
            <a:round/>
            <a:headEnd type="none" w="sm" len="sm"/>
            <a:tailEnd type="none" w="sm" len="sm"/>
          </a:ln>
        </p:spPr>
      </p:cxnSp>
      <p:sp>
        <p:nvSpPr>
          <p:cNvPr id="9" name="Google Shape;49;p6"/>
          <p:cNvSpPr txBox="1"/>
          <p:nvPr/>
        </p:nvSpPr>
        <p:spPr>
          <a:xfrm>
            <a:off x="6830644" y="468992"/>
            <a:ext cx="2615360"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800" b="1" dirty="0">
                <a:solidFill>
                  <a:srgbClr val="31859B"/>
                </a:solidFill>
                <a:latin typeface="Playfair Display"/>
                <a:ea typeface="Playfair Display"/>
                <a:cs typeface="Playfair Display"/>
                <a:sym typeface="Playfair Display"/>
              </a:rPr>
              <a:t>Progression</a:t>
            </a:r>
            <a:endParaRPr sz="2800" b="1" i="0" u="none" strike="noStrike" cap="none" dirty="0">
              <a:solidFill>
                <a:srgbClr val="31859B"/>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2" name="Picture 1" descr="annie-spratt-__b279kVy0c-unsplash.jpg"/>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0" y="0"/>
            <a:ext cx="2963541" cy="5145088"/>
          </a:xfrm>
          <a:prstGeom prst="rect">
            <a:avLst/>
          </a:prstGeom>
        </p:spPr>
      </p:pic>
      <p:sp>
        <p:nvSpPr>
          <p:cNvPr id="62" name="Google Shape;62;p7"/>
          <p:cNvSpPr txBox="1"/>
          <p:nvPr/>
        </p:nvSpPr>
        <p:spPr>
          <a:xfrm>
            <a:off x="2002259" y="838324"/>
            <a:ext cx="1623848"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400" b="1" i="0" u="none" strike="noStrike" cap="none" dirty="0">
                <a:solidFill>
                  <a:srgbClr val="FFFFFF"/>
                </a:solidFill>
                <a:latin typeface="Playfair Display"/>
                <a:ea typeface="Playfair Display"/>
                <a:cs typeface="Playfair Display"/>
                <a:sym typeface="Playfair Display"/>
              </a:rPr>
              <a:t>Brief</a:t>
            </a:r>
            <a:endParaRPr sz="2400" b="1" i="0" u="none" strike="noStrike" cap="none" dirty="0">
              <a:solidFill>
                <a:srgbClr val="FFFFFF"/>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66"/>
        <p:cNvGrpSpPr/>
        <p:nvPr/>
      </p:nvGrpSpPr>
      <p:grpSpPr>
        <a:xfrm>
          <a:off x="0" y="0"/>
          <a:ext cx="0" cy="0"/>
          <a:chOff x="0" y="0"/>
          <a:chExt cx="0" cy="0"/>
        </a:xfrm>
      </p:grpSpPr>
      <p:sp>
        <p:nvSpPr>
          <p:cNvPr id="67" name="Google Shape;67;p8"/>
          <p:cNvSpPr txBox="1"/>
          <p:nvPr/>
        </p:nvSpPr>
        <p:spPr>
          <a:xfrm>
            <a:off x="2956800" y="683512"/>
            <a:ext cx="3687282" cy="39087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000" b="1" i="0" u="none" strike="noStrike" cap="none" dirty="0">
              <a:solidFill>
                <a:srgbClr val="31859B"/>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Requirements – detail:</a:t>
            </a:r>
            <a:endParaRPr dirty="0"/>
          </a:p>
          <a:p>
            <a:pPr marL="0" marR="0" lvl="0" indent="0" algn="l" rtl="0">
              <a:lnSpc>
                <a:spcPct val="100000"/>
              </a:lnSpc>
              <a:spcBef>
                <a:spcPts val="0"/>
              </a:spcBef>
              <a:spcAft>
                <a:spcPts val="0"/>
              </a:spcAft>
              <a:buNone/>
            </a:pPr>
            <a:endParaRPr lang="en-GB" sz="1000" b="0" i="0" u="none" strike="noStrike" cap="none" dirty="0">
              <a:solidFill>
                <a:schemeClr val="tx1"/>
              </a:solidFill>
              <a:latin typeface="Open Sans"/>
              <a:ea typeface="Open Sans"/>
              <a:cs typeface="Open Sans"/>
              <a:sym typeface="Open Sans"/>
            </a:endParaRPr>
          </a:p>
          <a:p>
            <a:pPr lvl="0"/>
            <a:r>
              <a:rPr lang="en-GB" sz="1000" dirty="0">
                <a:solidFill>
                  <a:srgbClr val="7F7F7F"/>
                </a:solidFill>
                <a:latin typeface="Open Sans"/>
                <a:ea typeface="Open Sans"/>
                <a:cs typeface="Open Sans"/>
                <a:sym typeface="Open Sans"/>
              </a:rPr>
              <a:t>Your online </a:t>
            </a:r>
            <a:r>
              <a:rPr lang="en-US" sz="1000" dirty="0">
                <a:solidFill>
                  <a:srgbClr val="7F7F7F"/>
                </a:solidFill>
                <a:latin typeface="Open Sans"/>
                <a:ea typeface="Open Sans"/>
                <a:cs typeface="Open Sans"/>
              </a:rPr>
              <a:t>personal brand identity </a:t>
            </a:r>
            <a:r>
              <a:rPr lang="en-GB" sz="1000" dirty="0">
                <a:solidFill>
                  <a:srgbClr val="7F7F7F"/>
                </a:solidFill>
                <a:latin typeface="Open Sans"/>
                <a:ea typeface="Open Sans"/>
                <a:cs typeface="Open Sans"/>
                <a:sym typeface="Open Sans"/>
              </a:rPr>
              <a:t>should provide a good insight into who you are as a creative practitioner. This should include examples of your creative work and information about you and your practice including:</a:t>
            </a:r>
          </a:p>
          <a:p>
            <a:pPr marL="0" marR="0" lvl="0" indent="0" algn="l" rtl="0">
              <a:lnSpc>
                <a:spcPct val="100000"/>
              </a:lnSpc>
              <a:spcBef>
                <a:spcPts val="0"/>
              </a:spcBef>
              <a:spcAft>
                <a:spcPts val="0"/>
              </a:spcAft>
              <a:buNone/>
            </a:pPr>
            <a:endParaRPr lang="en-GB" sz="1000" dirty="0">
              <a:solidFill>
                <a:srgbClr val="7F7F7F"/>
              </a:solidFill>
              <a:latin typeface="Open Sans"/>
              <a:ea typeface="Open Sans"/>
              <a:cs typeface="Open Sans"/>
              <a:sym typeface="Open Sans"/>
            </a:endParaRPr>
          </a:p>
          <a:p>
            <a:pPr marL="171450" marR="0" lvl="0" indent="-171450" algn="l" rtl="0">
              <a:lnSpc>
                <a:spcPct val="100000"/>
              </a:lnSpc>
              <a:spcBef>
                <a:spcPts val="0"/>
              </a:spcBef>
              <a:spcAft>
                <a:spcPts val="0"/>
              </a:spcAft>
              <a:buFont typeface="Arial"/>
              <a:buChar char="•"/>
            </a:pPr>
            <a:r>
              <a:rPr lang="en-GB" sz="1000" dirty="0">
                <a:solidFill>
                  <a:srgbClr val="7F7F7F"/>
                </a:solidFill>
                <a:latin typeface="Open Sans"/>
                <a:ea typeface="Open Sans"/>
                <a:cs typeface="Open Sans"/>
                <a:sym typeface="Open Sans"/>
              </a:rPr>
              <a:t>Sources of inspiration</a:t>
            </a:r>
          </a:p>
          <a:p>
            <a:pPr marL="171450" marR="0" lvl="0" indent="-171450" algn="l" rtl="0">
              <a:lnSpc>
                <a:spcPct val="100000"/>
              </a:lnSpc>
              <a:spcBef>
                <a:spcPts val="0"/>
              </a:spcBef>
              <a:spcAft>
                <a:spcPts val="0"/>
              </a:spcAft>
              <a:buFont typeface="Arial"/>
              <a:buChar char="•"/>
            </a:pPr>
            <a:r>
              <a:rPr lang="en-GB" sz="1000" dirty="0">
                <a:solidFill>
                  <a:srgbClr val="7F7F7F"/>
                </a:solidFill>
                <a:latin typeface="Open Sans"/>
                <a:ea typeface="Open Sans"/>
                <a:cs typeface="Open Sans"/>
                <a:sym typeface="Open Sans"/>
              </a:rPr>
              <a:t>Concepts of contexts explored</a:t>
            </a:r>
          </a:p>
          <a:p>
            <a:pPr marL="171450" marR="0" lvl="0" indent="-171450" algn="l" rtl="0">
              <a:lnSpc>
                <a:spcPct val="100000"/>
              </a:lnSpc>
              <a:spcBef>
                <a:spcPts val="0"/>
              </a:spcBef>
              <a:spcAft>
                <a:spcPts val="0"/>
              </a:spcAft>
              <a:buFont typeface="Arial"/>
              <a:buChar char="•"/>
            </a:pPr>
            <a:r>
              <a:rPr lang="en-GB" sz="1000" dirty="0">
                <a:solidFill>
                  <a:srgbClr val="7F7F7F"/>
                </a:solidFill>
                <a:latin typeface="Open Sans"/>
                <a:ea typeface="Open Sans"/>
                <a:cs typeface="Open Sans"/>
                <a:sym typeface="Open Sans"/>
              </a:rPr>
              <a:t>Competitions of commissions you have undertaken</a:t>
            </a:r>
          </a:p>
          <a:p>
            <a:pPr marL="171450" marR="0" lvl="0" indent="-171450" algn="l" rtl="0">
              <a:lnSpc>
                <a:spcPct val="100000"/>
              </a:lnSpc>
              <a:spcBef>
                <a:spcPts val="0"/>
              </a:spcBef>
              <a:spcAft>
                <a:spcPts val="0"/>
              </a:spcAft>
              <a:buFont typeface="Arial"/>
              <a:buChar char="•"/>
            </a:pPr>
            <a:r>
              <a:rPr lang="en-GB" sz="1000" dirty="0">
                <a:solidFill>
                  <a:srgbClr val="7F7F7F"/>
                </a:solidFill>
                <a:latin typeface="Open Sans"/>
                <a:ea typeface="Open Sans"/>
                <a:cs typeface="Open Sans"/>
                <a:sym typeface="Open Sans"/>
              </a:rPr>
              <a:t>Practitioner statement</a:t>
            </a:r>
          </a:p>
          <a:p>
            <a:pPr marL="171450" marR="0" lvl="0" indent="-171450" algn="l" rtl="0">
              <a:lnSpc>
                <a:spcPct val="100000"/>
              </a:lnSpc>
              <a:spcBef>
                <a:spcPts val="0"/>
              </a:spcBef>
              <a:spcAft>
                <a:spcPts val="0"/>
              </a:spcAft>
              <a:buFont typeface="Arial"/>
              <a:buChar char="•"/>
            </a:pPr>
            <a:r>
              <a:rPr lang="en-GB" sz="1000" dirty="0">
                <a:solidFill>
                  <a:srgbClr val="7F7F7F"/>
                </a:solidFill>
                <a:latin typeface="Open Sans"/>
                <a:ea typeface="Open Sans"/>
                <a:cs typeface="Open Sans"/>
                <a:sym typeface="Open Sans"/>
              </a:rPr>
              <a:t>Biography/CV/</a:t>
            </a:r>
            <a:r>
              <a:rPr lang="en-GB" sz="1000" dirty="0" err="1">
                <a:solidFill>
                  <a:srgbClr val="7F7F7F"/>
                </a:solidFill>
                <a:latin typeface="Open Sans"/>
                <a:ea typeface="Open Sans"/>
                <a:cs typeface="Open Sans"/>
                <a:sym typeface="Open Sans"/>
              </a:rPr>
              <a:t>Resumè</a:t>
            </a:r>
            <a:endParaRPr lang="en-GB" sz="1000" dirty="0">
              <a:solidFill>
                <a:srgbClr val="7F7F7F"/>
              </a:solidFill>
              <a:latin typeface="Open Sans"/>
              <a:ea typeface="Open Sans"/>
              <a:cs typeface="Open Sans"/>
              <a:sym typeface="Open Sans"/>
            </a:endParaRPr>
          </a:p>
          <a:p>
            <a:pPr marL="171450" marR="0" lvl="0" indent="-171450" algn="l" rtl="0">
              <a:lnSpc>
                <a:spcPct val="100000"/>
              </a:lnSpc>
              <a:spcBef>
                <a:spcPts val="0"/>
              </a:spcBef>
              <a:spcAft>
                <a:spcPts val="0"/>
              </a:spcAft>
              <a:buFont typeface="Arial"/>
              <a:buChar char="•"/>
            </a:pPr>
            <a:r>
              <a:rPr lang="en-GB" sz="1000" dirty="0">
                <a:solidFill>
                  <a:srgbClr val="7F7F7F"/>
                </a:solidFill>
                <a:latin typeface="Open Sans"/>
                <a:ea typeface="Open Sans"/>
                <a:cs typeface="Open Sans"/>
                <a:sym typeface="Open Sans"/>
              </a:rPr>
              <a:t>Evidence of networking</a:t>
            </a:r>
          </a:p>
          <a:p>
            <a:pPr marL="171450" marR="0" lvl="0" indent="-171450" algn="l" rtl="0">
              <a:lnSpc>
                <a:spcPct val="100000"/>
              </a:lnSpc>
              <a:spcBef>
                <a:spcPts val="0"/>
              </a:spcBef>
              <a:spcAft>
                <a:spcPts val="0"/>
              </a:spcAft>
              <a:buFont typeface="Arial"/>
              <a:buChar char="•"/>
            </a:pPr>
            <a:endParaRPr lang="en-GB" sz="1000" dirty="0">
              <a:solidFill>
                <a:srgbClr val="7F7F7F"/>
              </a:solidFill>
              <a:latin typeface="Open Sans"/>
              <a:ea typeface="Open Sans"/>
              <a:cs typeface="Open Sans"/>
              <a:sym typeface="Open Sans"/>
            </a:endParaRPr>
          </a:p>
          <a:p>
            <a:pPr lvl="0"/>
            <a:r>
              <a:rPr lang="en-GB" sz="1000" dirty="0">
                <a:solidFill>
                  <a:srgbClr val="7F7F7F"/>
                </a:solidFill>
                <a:latin typeface="Open Sans"/>
                <a:ea typeface="Open Sans"/>
                <a:cs typeface="Open Sans"/>
                <a:sym typeface="Open Sans"/>
              </a:rPr>
              <a:t>As well as developing your online </a:t>
            </a:r>
            <a:r>
              <a:rPr lang="en-US" sz="1000" dirty="0">
                <a:solidFill>
                  <a:srgbClr val="7F7F7F"/>
                </a:solidFill>
                <a:latin typeface="Open Sans"/>
                <a:ea typeface="Open Sans"/>
                <a:cs typeface="Open Sans"/>
              </a:rPr>
              <a:t>personal brand identity </a:t>
            </a:r>
            <a:r>
              <a:rPr lang="en-GB" sz="1000" dirty="0">
                <a:solidFill>
                  <a:srgbClr val="7F7F7F"/>
                </a:solidFill>
                <a:latin typeface="Open Sans"/>
                <a:ea typeface="Open Sans"/>
                <a:cs typeface="Open Sans"/>
                <a:sym typeface="Open Sans"/>
              </a:rPr>
              <a:t>you will also develop your skills for progression by taking part in a mock interview.</a:t>
            </a:r>
          </a:p>
        </p:txBody>
      </p:sp>
      <p:pic>
        <p:nvPicPr>
          <p:cNvPr id="68" name="Google Shape;68;p8"/>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7524924" y="114298"/>
            <a:ext cx="1736521" cy="382087"/>
          </a:xfrm>
          <a:prstGeom prst="rect">
            <a:avLst/>
          </a:prstGeom>
          <a:noFill/>
          <a:ln>
            <a:noFill/>
          </a:ln>
        </p:spPr>
      </p:pic>
      <p:cxnSp>
        <p:nvCxnSpPr>
          <p:cNvPr id="70" name="Google Shape;70;p8"/>
          <p:cNvCxnSpPr/>
          <p:nvPr/>
        </p:nvCxnSpPr>
        <p:spPr>
          <a:xfrm>
            <a:off x="7589775" y="494051"/>
            <a:ext cx="1485799" cy="2334"/>
          </a:xfrm>
          <a:prstGeom prst="straightConnector1">
            <a:avLst/>
          </a:prstGeom>
          <a:noFill/>
          <a:ln w="19050" cap="flat" cmpd="sng">
            <a:solidFill>
              <a:srgbClr val="31859B"/>
            </a:solidFill>
            <a:prstDash val="solid"/>
            <a:round/>
            <a:headEnd type="none" w="sm" len="sm"/>
            <a:tailEnd type="none" w="sm" len="sm"/>
          </a:ln>
        </p:spPr>
      </p:cxnSp>
      <p:sp>
        <p:nvSpPr>
          <p:cNvPr id="7" name="Google Shape;49;p6"/>
          <p:cNvSpPr txBox="1"/>
          <p:nvPr/>
        </p:nvSpPr>
        <p:spPr>
          <a:xfrm>
            <a:off x="6830644" y="468992"/>
            <a:ext cx="2615360"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800" b="1" dirty="0">
                <a:solidFill>
                  <a:srgbClr val="31859B"/>
                </a:solidFill>
                <a:latin typeface="Playfair Display"/>
                <a:ea typeface="Playfair Display"/>
                <a:cs typeface="Playfair Display"/>
                <a:sym typeface="Playfair Display"/>
              </a:rPr>
              <a:t>Progression</a:t>
            </a:r>
            <a:endParaRPr sz="2800" b="1" i="0" u="none" strike="noStrike" cap="none" dirty="0">
              <a:solidFill>
                <a:srgbClr val="31859B"/>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2" name="Picture 1" descr="peter-larsen-3EtItvSzrYE-unsplash.jpg"/>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0" y="0"/>
            <a:ext cx="2899395" cy="51450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1"/>
          <p:cNvSpPr txBox="1"/>
          <p:nvPr/>
        </p:nvSpPr>
        <p:spPr>
          <a:xfrm>
            <a:off x="221986" y="218430"/>
            <a:ext cx="1851853" cy="47705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000" b="1" i="0" u="none" strike="noStrike" cap="none" dirty="0">
              <a:solidFill>
                <a:srgbClr val="31859B"/>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Guidance overview</a:t>
            </a:r>
            <a:endParaRPr dirty="0"/>
          </a:p>
          <a:p>
            <a:pPr marL="0" marR="0" lvl="0" indent="0" algn="l" rtl="0">
              <a:lnSpc>
                <a:spcPct val="100000"/>
              </a:lnSpc>
              <a:spcBef>
                <a:spcPts val="0"/>
              </a:spcBef>
              <a:spcAft>
                <a:spcPts val="0"/>
              </a:spcAft>
              <a:buNone/>
            </a:pPr>
            <a:endParaRPr lang="en-GB" sz="1000" b="0" i="0" u="none" strike="noStrike" cap="none"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r>
              <a:rPr lang="en-GB" sz="1000" b="0" i="0" u="none" strike="noStrike" cap="none" dirty="0">
                <a:solidFill>
                  <a:srgbClr val="7F7F7F"/>
                </a:solidFill>
                <a:latin typeface="Open Sans"/>
                <a:ea typeface="Open Sans"/>
                <a:cs typeface="Open Sans"/>
                <a:sym typeface="Open Sans"/>
              </a:rPr>
              <a:t>You will need to plan and organise your project individually as part of your professional practice and problem solving.</a:t>
            </a:r>
            <a:endParaRPr dirty="0"/>
          </a:p>
          <a:p>
            <a:pPr marL="0" marR="0" lvl="0" indent="0" algn="l" rtl="0">
              <a:lnSpc>
                <a:spcPct val="100000"/>
              </a:lnSpc>
              <a:spcBef>
                <a:spcPts val="0"/>
              </a:spcBef>
              <a:spcAft>
                <a:spcPts val="0"/>
              </a:spcAft>
              <a:buNone/>
            </a:pPr>
            <a:endParaRPr sz="1000" b="0" i="0" u="none" strike="noStrike" cap="none"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r>
              <a:rPr lang="en-GB" sz="1000" b="0" i="0" u="none" strike="noStrike" cap="none" dirty="0">
                <a:solidFill>
                  <a:srgbClr val="7F7F7F"/>
                </a:solidFill>
                <a:latin typeface="Open Sans"/>
                <a:ea typeface="Open Sans"/>
                <a:cs typeface="Open Sans"/>
                <a:sym typeface="Open Sans"/>
              </a:rPr>
              <a:t>The assessment criteria are not a series of tasks that are completed independently. You will use a combination of skills relating to the </a:t>
            </a:r>
            <a:r>
              <a:rPr lang="en-GB" sz="1000" dirty="0">
                <a:solidFill>
                  <a:srgbClr val="7F7F7F"/>
                </a:solidFill>
                <a:latin typeface="Open Sans"/>
                <a:ea typeface="Open Sans"/>
                <a:cs typeface="Open Sans"/>
                <a:sym typeface="Open Sans"/>
              </a:rPr>
              <a:t>criteria continuously throughout the assignment. </a:t>
            </a:r>
          </a:p>
          <a:p>
            <a:pPr marL="0" marR="0" lvl="0" indent="0" algn="l" rtl="0">
              <a:lnSpc>
                <a:spcPct val="100000"/>
              </a:lnSpc>
              <a:spcBef>
                <a:spcPts val="0"/>
              </a:spcBef>
              <a:spcAft>
                <a:spcPts val="0"/>
              </a:spcAft>
              <a:buNone/>
            </a:pPr>
            <a:endParaRPr lang="en-GB" sz="1000"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r>
              <a:rPr lang="en-GB" sz="1000" dirty="0">
                <a:solidFill>
                  <a:srgbClr val="7F7F7F"/>
                </a:solidFill>
                <a:latin typeface="Open Sans"/>
                <a:ea typeface="Open Sans"/>
                <a:cs typeface="Open Sans"/>
                <a:sym typeface="Open Sans"/>
              </a:rPr>
              <a:t>They criteria are equally weighted, meaning they should be given equal importance in your project.</a:t>
            </a:r>
            <a:endParaRPr lang="en-GB" sz="1000" dirty="0"/>
          </a:p>
          <a:p>
            <a:pPr marL="0" marR="0" lvl="0" indent="0" algn="l" rtl="0">
              <a:lnSpc>
                <a:spcPct val="100000"/>
              </a:lnSpc>
              <a:spcBef>
                <a:spcPts val="0"/>
              </a:spcBef>
              <a:spcAft>
                <a:spcPts val="0"/>
              </a:spcAft>
              <a:buNone/>
            </a:pPr>
            <a:endParaRPr sz="1000" b="0" i="0" u="none" strike="noStrike" cap="none" dirty="0">
              <a:solidFill>
                <a:srgbClr val="7F7F7F"/>
              </a:solidFill>
              <a:latin typeface="Open Sans"/>
              <a:ea typeface="Open Sans"/>
              <a:cs typeface="Open Sans"/>
              <a:sym typeface="Open Sans"/>
            </a:endParaRPr>
          </a:p>
          <a:p>
            <a:pPr marL="0" marR="0" lvl="0" indent="0" algn="l" rtl="0">
              <a:lnSpc>
                <a:spcPct val="100000"/>
              </a:lnSpc>
              <a:spcBef>
                <a:spcPts val="0"/>
              </a:spcBef>
              <a:spcAft>
                <a:spcPts val="0"/>
              </a:spcAft>
              <a:buNone/>
            </a:pPr>
            <a:r>
              <a:rPr lang="en-GB" sz="1000" b="0" i="0" u="none" strike="noStrike" cap="none" dirty="0">
                <a:solidFill>
                  <a:srgbClr val="7F7F7F"/>
                </a:solidFill>
                <a:latin typeface="Open Sans"/>
                <a:ea typeface="Open Sans"/>
                <a:cs typeface="Open Sans"/>
                <a:sym typeface="Open Sans"/>
              </a:rPr>
              <a:t>The guidance slides of this assignment brief indicate how you </a:t>
            </a:r>
            <a:r>
              <a:rPr lang="en-GB" sz="1000" dirty="0">
                <a:solidFill>
                  <a:srgbClr val="7F7F7F"/>
                </a:solidFill>
                <a:latin typeface="Open Sans"/>
                <a:ea typeface="Open Sans"/>
                <a:cs typeface="Open Sans"/>
                <a:sym typeface="Open Sans"/>
              </a:rPr>
              <a:t>could</a:t>
            </a:r>
            <a:r>
              <a:rPr lang="en-GB" sz="1000" b="0" i="0" u="none" strike="noStrike" cap="none" dirty="0">
                <a:solidFill>
                  <a:srgbClr val="7F7F7F"/>
                </a:solidFill>
                <a:latin typeface="Open Sans"/>
                <a:ea typeface="Open Sans"/>
                <a:cs typeface="Open Sans"/>
                <a:sym typeface="Open Sans"/>
              </a:rPr>
              <a:t> approach each of those skills and what types of evidence you </a:t>
            </a:r>
            <a:r>
              <a:rPr lang="en-GB" sz="1000" dirty="0">
                <a:solidFill>
                  <a:srgbClr val="7F7F7F"/>
                </a:solidFill>
                <a:latin typeface="Open Sans"/>
                <a:ea typeface="Open Sans"/>
                <a:cs typeface="Open Sans"/>
                <a:sym typeface="Open Sans"/>
              </a:rPr>
              <a:t>could</a:t>
            </a:r>
            <a:r>
              <a:rPr lang="en-GB" sz="1000" b="0" i="0" u="none" strike="noStrike" cap="none" dirty="0">
                <a:solidFill>
                  <a:srgbClr val="7F7F7F"/>
                </a:solidFill>
                <a:latin typeface="Open Sans"/>
                <a:ea typeface="Open Sans"/>
                <a:cs typeface="Open Sans"/>
                <a:sym typeface="Open Sans"/>
              </a:rPr>
              <a:t> produce. </a:t>
            </a:r>
            <a:endParaRPr sz="1000" b="0" i="0" u="none" strike="noStrike" cap="none" dirty="0">
              <a:solidFill>
                <a:srgbClr val="7F7F7F"/>
              </a:solidFill>
              <a:latin typeface="Open Sans"/>
              <a:ea typeface="Open Sans"/>
              <a:cs typeface="Open Sans"/>
              <a:sym typeface="Open Sans"/>
            </a:endParaRPr>
          </a:p>
          <a:p>
            <a:pPr marL="171450" marR="0" lvl="0" indent="-107950" algn="l" rtl="0">
              <a:lnSpc>
                <a:spcPct val="100000"/>
              </a:lnSpc>
              <a:spcBef>
                <a:spcPts val="0"/>
              </a:spcBef>
              <a:spcAft>
                <a:spcPts val="0"/>
              </a:spcAft>
              <a:buClr>
                <a:srgbClr val="000000"/>
              </a:buClr>
              <a:buSzPts val="1000"/>
              <a:buFont typeface="Arial"/>
              <a:buNone/>
            </a:pPr>
            <a:endParaRPr sz="1000" b="0" i="0" u="none" strike="noStrike" cap="none" dirty="0">
              <a:solidFill>
                <a:srgbClr val="7F7F7F"/>
              </a:solidFill>
              <a:latin typeface="Open Sans"/>
              <a:ea typeface="Open Sans"/>
              <a:cs typeface="Open Sans"/>
              <a:sym typeface="Open Sans"/>
            </a:endParaRPr>
          </a:p>
        </p:txBody>
      </p:sp>
      <p:pic>
        <p:nvPicPr>
          <p:cNvPr id="116" name="Google Shape;116;p11"/>
          <p:cNvPicPr preferRelativeResize="0"/>
          <p:nvPr/>
        </p:nvPicPr>
        <p:blipFill rotWithShape="1">
          <a:blip r:embed="rId3">
            <a:alphaModFix/>
          </a:blip>
          <a:srcRect/>
          <a:stretch/>
        </p:blipFill>
        <p:spPr>
          <a:xfrm>
            <a:off x="7524924" y="114298"/>
            <a:ext cx="1736521" cy="382087"/>
          </a:xfrm>
          <a:prstGeom prst="rect">
            <a:avLst/>
          </a:prstGeom>
          <a:noFill/>
          <a:ln>
            <a:noFill/>
          </a:ln>
        </p:spPr>
      </p:pic>
      <p:cxnSp>
        <p:nvCxnSpPr>
          <p:cNvPr id="118" name="Google Shape;118;p11"/>
          <p:cNvCxnSpPr/>
          <p:nvPr/>
        </p:nvCxnSpPr>
        <p:spPr>
          <a:xfrm>
            <a:off x="7589775" y="494051"/>
            <a:ext cx="1485799" cy="2334"/>
          </a:xfrm>
          <a:prstGeom prst="straightConnector1">
            <a:avLst/>
          </a:prstGeom>
          <a:noFill/>
          <a:ln w="19050" cap="flat" cmpd="sng">
            <a:solidFill>
              <a:srgbClr val="31859B"/>
            </a:solidFill>
            <a:prstDash val="solid"/>
            <a:round/>
            <a:headEnd type="none" w="sm" len="sm"/>
            <a:tailEnd type="none" w="sm" len="sm"/>
          </a:ln>
        </p:spPr>
      </p:cxnSp>
      <p:cxnSp>
        <p:nvCxnSpPr>
          <p:cNvPr id="119" name="Google Shape;119;p11"/>
          <p:cNvCxnSpPr/>
          <p:nvPr/>
        </p:nvCxnSpPr>
        <p:spPr>
          <a:xfrm>
            <a:off x="2152509" y="935182"/>
            <a:ext cx="0" cy="3463636"/>
          </a:xfrm>
          <a:prstGeom prst="straightConnector1">
            <a:avLst/>
          </a:prstGeom>
          <a:noFill/>
          <a:ln w="28575" cap="flat" cmpd="sng">
            <a:solidFill>
              <a:srgbClr val="31859B"/>
            </a:solidFill>
            <a:prstDash val="solid"/>
            <a:round/>
            <a:headEnd type="none" w="sm" len="sm"/>
            <a:tailEnd type="none" w="sm" len="sm"/>
          </a:ln>
        </p:spPr>
      </p:cxnSp>
      <p:sp>
        <p:nvSpPr>
          <p:cNvPr id="120" name="Google Shape;120;p11"/>
          <p:cNvSpPr txBox="1"/>
          <p:nvPr/>
        </p:nvSpPr>
        <p:spPr>
          <a:xfrm>
            <a:off x="5577739" y="876540"/>
            <a:ext cx="2098702" cy="584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800" b="1" i="0" u="none" strike="noStrike" cap="none" dirty="0">
                <a:solidFill>
                  <a:srgbClr val="000000"/>
                </a:solidFill>
                <a:latin typeface="Open Sans"/>
                <a:ea typeface="Open Sans"/>
                <a:cs typeface="Open Sans"/>
                <a:sym typeface="Open Sans"/>
              </a:rPr>
              <a:t>AC1: Informing ideas</a:t>
            </a:r>
            <a:endParaRPr dirty="0"/>
          </a:p>
          <a:p>
            <a:pPr marL="0" marR="0" lvl="0" indent="0" algn="l" rtl="0">
              <a:lnSpc>
                <a:spcPct val="100000"/>
              </a:lnSpc>
              <a:spcBef>
                <a:spcPts val="0"/>
              </a:spcBef>
              <a:spcAft>
                <a:spcPts val="0"/>
              </a:spcAft>
              <a:buNone/>
            </a:pPr>
            <a:r>
              <a:rPr lang="en-GB" sz="800" b="0" i="0" u="none" strike="noStrike" cap="none" dirty="0">
                <a:solidFill>
                  <a:srgbClr val="7F7F7F"/>
                </a:solidFill>
                <a:latin typeface="Open Sans"/>
                <a:ea typeface="Open Sans"/>
                <a:cs typeface="Open Sans"/>
                <a:sym typeface="Open Sans"/>
              </a:rPr>
              <a:t>Use skills for informing ideas, interpreting the brief and developing ideas and outcomes as they progress.</a:t>
            </a:r>
            <a:endParaRPr dirty="0"/>
          </a:p>
        </p:txBody>
      </p:sp>
      <p:sp>
        <p:nvSpPr>
          <p:cNvPr id="121" name="Google Shape;121;p11"/>
          <p:cNvSpPr txBox="1"/>
          <p:nvPr/>
        </p:nvSpPr>
        <p:spPr>
          <a:xfrm>
            <a:off x="6355536" y="2243357"/>
            <a:ext cx="1991958" cy="107721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800" b="1" i="0" u="none" strike="noStrike" cap="none" dirty="0">
                <a:solidFill>
                  <a:srgbClr val="000000"/>
                </a:solidFill>
                <a:latin typeface="Open Sans"/>
                <a:ea typeface="Open Sans"/>
                <a:cs typeface="Open Sans"/>
                <a:sym typeface="Open Sans"/>
              </a:rPr>
              <a:t>AC2: Problem solving</a:t>
            </a:r>
            <a:endParaRPr dirty="0"/>
          </a:p>
          <a:p>
            <a:pPr lvl="0"/>
            <a:r>
              <a:rPr lang="en-GB" sz="800" dirty="0">
                <a:solidFill>
                  <a:srgbClr val="7F7F7F"/>
                </a:solidFill>
                <a:latin typeface="Open Sans"/>
                <a:ea typeface="Open Sans"/>
                <a:cs typeface="Open Sans"/>
                <a:sym typeface="Open Sans"/>
              </a:rPr>
              <a:t>Show problem solving throughout by engaging with the brief and its requirements including ideas generation, experimentation, testing and reflection on the meaning, purpose function of your work.</a:t>
            </a:r>
            <a:endParaRPr lang="en-GB" sz="800" dirty="0"/>
          </a:p>
        </p:txBody>
      </p:sp>
      <p:sp>
        <p:nvSpPr>
          <p:cNvPr id="122" name="Google Shape;122;p11"/>
          <p:cNvSpPr txBox="1"/>
          <p:nvPr/>
        </p:nvSpPr>
        <p:spPr>
          <a:xfrm>
            <a:off x="4162098" y="3727456"/>
            <a:ext cx="2457132" cy="95410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800" b="1" i="0" u="none" strike="noStrike" cap="none">
                <a:solidFill>
                  <a:srgbClr val="000000"/>
                </a:solidFill>
                <a:latin typeface="Open Sans"/>
                <a:ea typeface="Open Sans"/>
                <a:cs typeface="Open Sans"/>
                <a:sym typeface="Open Sans"/>
              </a:rPr>
              <a:t>AC3: Technical skill</a:t>
            </a:r>
            <a:endParaRPr/>
          </a:p>
          <a:p>
            <a:pPr marL="0" marR="0" lvl="0" indent="0" algn="l" rtl="0">
              <a:lnSpc>
                <a:spcPct val="100000"/>
              </a:lnSpc>
              <a:spcBef>
                <a:spcPts val="0"/>
              </a:spcBef>
              <a:spcAft>
                <a:spcPts val="0"/>
              </a:spcAft>
              <a:buNone/>
            </a:pPr>
            <a:r>
              <a:rPr lang="en-GB" sz="800" b="0" i="0" u="none" strike="noStrike" cap="none">
                <a:solidFill>
                  <a:srgbClr val="7F7F7F"/>
                </a:solidFill>
                <a:latin typeface="Open Sans"/>
                <a:ea typeface="Open Sans"/>
                <a:cs typeface="Open Sans"/>
                <a:sym typeface="Open Sans"/>
              </a:rPr>
              <a:t>Show technical skills throughout by exploiting the potential of media, materials, techniques and processes. In early stages of the project, this might be when investigating material opportunities. Later it would be in the outcomes or their presentation.</a:t>
            </a:r>
            <a:endParaRPr/>
          </a:p>
        </p:txBody>
      </p:sp>
      <p:sp>
        <p:nvSpPr>
          <p:cNvPr id="123" name="Google Shape;123;p11"/>
          <p:cNvSpPr txBox="1"/>
          <p:nvPr/>
        </p:nvSpPr>
        <p:spPr>
          <a:xfrm>
            <a:off x="2412643" y="2366467"/>
            <a:ext cx="1836167" cy="83099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800" b="1" i="0" u="none" strike="noStrike" cap="none">
                <a:solidFill>
                  <a:srgbClr val="000000"/>
                </a:solidFill>
                <a:latin typeface="Open Sans"/>
                <a:ea typeface="Open Sans"/>
                <a:cs typeface="Open Sans"/>
                <a:sym typeface="Open Sans"/>
              </a:rPr>
              <a:t>AC4: Professional practice</a:t>
            </a:r>
            <a:endParaRPr/>
          </a:p>
          <a:p>
            <a:pPr marL="0" marR="0" lvl="0" indent="0" algn="l" rtl="0">
              <a:lnSpc>
                <a:spcPct val="100000"/>
              </a:lnSpc>
              <a:spcBef>
                <a:spcPts val="0"/>
              </a:spcBef>
              <a:spcAft>
                <a:spcPts val="0"/>
              </a:spcAft>
              <a:buNone/>
            </a:pPr>
            <a:r>
              <a:rPr lang="en-GB" sz="800" b="0" i="0" u="none" strike="noStrike" cap="none">
                <a:solidFill>
                  <a:srgbClr val="7F7F7F"/>
                </a:solidFill>
                <a:latin typeface="Open Sans"/>
                <a:ea typeface="Open Sans"/>
                <a:cs typeface="Open Sans"/>
                <a:sym typeface="Open Sans"/>
              </a:rPr>
              <a:t>Show how you apply professionalism to your assignment through technical practice, project management and working safely.</a:t>
            </a:r>
            <a:endParaRPr/>
          </a:p>
        </p:txBody>
      </p:sp>
      <p:grpSp>
        <p:nvGrpSpPr>
          <p:cNvPr id="124" name="Google Shape;124;p11"/>
          <p:cNvGrpSpPr/>
          <p:nvPr/>
        </p:nvGrpSpPr>
        <p:grpSpPr>
          <a:xfrm>
            <a:off x="4077324" y="1384461"/>
            <a:ext cx="2345356" cy="2340863"/>
            <a:chOff x="483844" y="23641"/>
            <a:chExt cx="2345356" cy="2340863"/>
          </a:xfrm>
        </p:grpSpPr>
        <p:sp>
          <p:nvSpPr>
            <p:cNvPr id="125" name="Google Shape;125;p11"/>
            <p:cNvSpPr/>
            <p:nvPr/>
          </p:nvSpPr>
          <p:spPr>
            <a:xfrm>
              <a:off x="681714" y="147821"/>
              <a:ext cx="2005973" cy="2005973"/>
            </a:xfrm>
            <a:prstGeom prst="pie">
              <a:avLst>
                <a:gd name="adj1" fmla="val 16200000"/>
                <a:gd name="adj2" fmla="val 2052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1"/>
            <p:cNvSpPr txBox="1"/>
            <p:nvPr/>
          </p:nvSpPr>
          <p:spPr>
            <a:xfrm>
              <a:off x="1728164" y="485015"/>
              <a:ext cx="644777" cy="4298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None/>
              </a:pPr>
              <a:r>
                <a:rPr lang="en-GB" sz="700" b="0" i="0" u="none" strike="noStrike" cap="none">
                  <a:solidFill>
                    <a:schemeClr val="lt1"/>
                  </a:solidFill>
                  <a:latin typeface="Arial"/>
                  <a:ea typeface="Arial"/>
                  <a:cs typeface="Arial"/>
                  <a:sym typeface="Arial"/>
                </a:rPr>
                <a:t>Informing ideas</a:t>
              </a:r>
              <a:endParaRPr sz="700" b="0" i="0" u="none" strike="noStrike" cap="none">
                <a:solidFill>
                  <a:schemeClr val="lt1"/>
                </a:solidFill>
                <a:latin typeface="Arial"/>
                <a:ea typeface="Arial"/>
                <a:cs typeface="Arial"/>
                <a:sym typeface="Arial"/>
              </a:endParaRPr>
            </a:p>
          </p:txBody>
        </p:sp>
        <p:sp>
          <p:nvSpPr>
            <p:cNvPr id="127" name="Google Shape;127;p11"/>
            <p:cNvSpPr/>
            <p:nvPr/>
          </p:nvSpPr>
          <p:spPr>
            <a:xfrm>
              <a:off x="698908" y="201313"/>
              <a:ext cx="2005973" cy="2005973"/>
            </a:xfrm>
            <a:prstGeom prst="pie">
              <a:avLst>
                <a:gd name="adj1" fmla="val 20520000"/>
                <a:gd name="adj2" fmla="val 324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1"/>
            <p:cNvSpPr txBox="1"/>
            <p:nvPr/>
          </p:nvSpPr>
          <p:spPr>
            <a:xfrm>
              <a:off x="1990851" y="1117852"/>
              <a:ext cx="597016" cy="477612"/>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None/>
              </a:pPr>
              <a:r>
                <a:rPr lang="en-GB" sz="700" b="0" i="0" u="none" strike="noStrike" cap="none">
                  <a:solidFill>
                    <a:schemeClr val="lt1"/>
                  </a:solidFill>
                  <a:latin typeface="Arial"/>
                  <a:ea typeface="Arial"/>
                  <a:cs typeface="Arial"/>
                  <a:sym typeface="Arial"/>
                </a:rPr>
                <a:t>Problem solving</a:t>
              </a:r>
              <a:endParaRPr sz="700" b="0" i="0" u="none" strike="noStrike" cap="none">
                <a:solidFill>
                  <a:schemeClr val="lt1"/>
                </a:solidFill>
                <a:latin typeface="Arial"/>
                <a:ea typeface="Arial"/>
                <a:cs typeface="Arial"/>
                <a:sym typeface="Arial"/>
              </a:endParaRPr>
            </a:p>
          </p:txBody>
        </p:sp>
        <p:sp>
          <p:nvSpPr>
            <p:cNvPr id="129" name="Google Shape;129;p11"/>
            <p:cNvSpPr/>
            <p:nvPr/>
          </p:nvSpPr>
          <p:spPr>
            <a:xfrm>
              <a:off x="653535" y="234269"/>
              <a:ext cx="2005973" cy="2005973"/>
            </a:xfrm>
            <a:prstGeom prst="pie">
              <a:avLst>
                <a:gd name="adj1" fmla="val 3240000"/>
                <a:gd name="adj2" fmla="val 756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1"/>
            <p:cNvSpPr txBox="1"/>
            <p:nvPr/>
          </p:nvSpPr>
          <p:spPr>
            <a:xfrm>
              <a:off x="1369954" y="1643226"/>
              <a:ext cx="573135" cy="525374"/>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None/>
              </a:pPr>
              <a:r>
                <a:rPr lang="en-GB" sz="700" b="0" i="0" u="none" strike="noStrike" cap="none">
                  <a:solidFill>
                    <a:schemeClr val="lt1"/>
                  </a:solidFill>
                  <a:latin typeface="Arial"/>
                  <a:ea typeface="Arial"/>
                  <a:cs typeface="Arial"/>
                  <a:sym typeface="Arial"/>
                </a:rPr>
                <a:t>Technical skills</a:t>
              </a:r>
              <a:endParaRPr sz="700" b="0" i="0" u="none" strike="noStrike" cap="none">
                <a:solidFill>
                  <a:schemeClr val="lt1"/>
                </a:solidFill>
                <a:latin typeface="Arial"/>
                <a:ea typeface="Arial"/>
                <a:cs typeface="Arial"/>
                <a:sym typeface="Arial"/>
              </a:endParaRPr>
            </a:p>
          </p:txBody>
        </p:sp>
        <p:sp>
          <p:nvSpPr>
            <p:cNvPr id="131" name="Google Shape;131;p11"/>
            <p:cNvSpPr/>
            <p:nvPr/>
          </p:nvSpPr>
          <p:spPr>
            <a:xfrm>
              <a:off x="608162" y="201313"/>
              <a:ext cx="2005973" cy="2005973"/>
            </a:xfrm>
            <a:prstGeom prst="pie">
              <a:avLst>
                <a:gd name="adj1" fmla="val 7560000"/>
                <a:gd name="adj2" fmla="val 1188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1"/>
            <p:cNvSpPr txBox="1"/>
            <p:nvPr/>
          </p:nvSpPr>
          <p:spPr>
            <a:xfrm>
              <a:off x="725177" y="1117852"/>
              <a:ext cx="597016" cy="477612"/>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None/>
              </a:pPr>
              <a:r>
                <a:rPr lang="en-GB" sz="700" b="0" i="0" u="none" strike="noStrike" cap="none">
                  <a:solidFill>
                    <a:schemeClr val="lt1"/>
                  </a:solidFill>
                  <a:latin typeface="Arial"/>
                  <a:ea typeface="Arial"/>
                  <a:cs typeface="Arial"/>
                  <a:sym typeface="Arial"/>
                </a:rPr>
                <a:t>Professional practice</a:t>
              </a:r>
              <a:endParaRPr sz="700" b="0" i="0" u="none" strike="noStrike" cap="none">
                <a:solidFill>
                  <a:schemeClr val="lt1"/>
                </a:solidFill>
                <a:latin typeface="Arial"/>
                <a:ea typeface="Arial"/>
                <a:cs typeface="Arial"/>
                <a:sym typeface="Arial"/>
              </a:endParaRPr>
            </a:p>
          </p:txBody>
        </p:sp>
        <p:sp>
          <p:nvSpPr>
            <p:cNvPr id="133" name="Google Shape;133;p11"/>
            <p:cNvSpPr/>
            <p:nvPr/>
          </p:nvSpPr>
          <p:spPr>
            <a:xfrm>
              <a:off x="625356" y="147821"/>
              <a:ext cx="2005973" cy="2005973"/>
            </a:xfrm>
            <a:prstGeom prst="pie">
              <a:avLst>
                <a:gd name="adj1" fmla="val 11880000"/>
                <a:gd name="adj2" fmla="val 1620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1"/>
            <p:cNvSpPr txBox="1"/>
            <p:nvPr/>
          </p:nvSpPr>
          <p:spPr>
            <a:xfrm>
              <a:off x="940103" y="485015"/>
              <a:ext cx="644777" cy="429851"/>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None/>
              </a:pPr>
              <a:r>
                <a:rPr lang="en-GB" sz="700" b="0" i="0" u="none" strike="noStrike" cap="none">
                  <a:solidFill>
                    <a:schemeClr val="lt1"/>
                  </a:solidFill>
                  <a:latin typeface="Arial"/>
                  <a:ea typeface="Arial"/>
                  <a:cs typeface="Arial"/>
                  <a:sym typeface="Arial"/>
                </a:rPr>
                <a:t>Communication</a:t>
              </a:r>
              <a:endParaRPr sz="700" b="0" i="0" u="none" strike="noStrike" cap="none">
                <a:solidFill>
                  <a:schemeClr val="lt1"/>
                </a:solidFill>
                <a:latin typeface="Arial"/>
                <a:ea typeface="Arial"/>
                <a:cs typeface="Arial"/>
                <a:sym typeface="Arial"/>
              </a:endParaRPr>
            </a:p>
          </p:txBody>
        </p:sp>
        <p:sp>
          <p:nvSpPr>
            <p:cNvPr id="135" name="Google Shape;135;p11"/>
            <p:cNvSpPr/>
            <p:nvPr/>
          </p:nvSpPr>
          <p:spPr>
            <a:xfrm>
              <a:off x="557440" y="23641"/>
              <a:ext cx="2254332" cy="2254332"/>
            </a:xfrm>
            <a:custGeom>
              <a:avLst/>
              <a:gdLst/>
              <a:ahLst/>
              <a:cxnLst/>
              <a:rect l="l" t="t" r="r" b="b"/>
              <a:pathLst>
                <a:path w="120000" h="120000" extrusionOk="0">
                  <a:moveTo>
                    <a:pt x="60005" y="4067"/>
                  </a:moveTo>
                  <a:lnTo>
                    <a:pt x="60005" y="4067"/>
                  </a:lnTo>
                  <a:cubicBezTo>
                    <a:pt x="82391" y="4070"/>
                    <a:pt x="102619" y="17419"/>
                    <a:pt x="111424" y="38000"/>
                  </a:cubicBezTo>
                  <a:lnTo>
                    <a:pt x="115280" y="36747"/>
                  </a:lnTo>
                  <a:lnTo>
                    <a:pt x="110293" y="43657"/>
                  </a:lnTo>
                  <a:lnTo>
                    <a:pt x="101740" y="41147"/>
                  </a:lnTo>
                  <a:lnTo>
                    <a:pt x="105594" y="39894"/>
                  </a:lnTo>
                  <a:lnTo>
                    <a:pt x="105594" y="39894"/>
                  </a:lnTo>
                  <a:cubicBezTo>
                    <a:pt x="97628" y="21829"/>
                    <a:pt x="79748" y="10171"/>
                    <a:pt x="60005" y="10169"/>
                  </a:cubicBezTo>
                  <a:close/>
                </a:path>
              </a:pathLst>
            </a:custGeom>
            <a:solidFill>
              <a:srgbClr val="B1C0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1"/>
            <p:cNvSpPr/>
            <p:nvPr/>
          </p:nvSpPr>
          <p:spPr>
            <a:xfrm>
              <a:off x="574868" y="77116"/>
              <a:ext cx="2254332" cy="2254332"/>
            </a:xfrm>
            <a:custGeom>
              <a:avLst/>
              <a:gdLst/>
              <a:ahLst/>
              <a:cxnLst/>
              <a:rect l="l" t="t" r="r" b="b"/>
              <a:pathLst>
                <a:path w="120000" h="120000" extrusionOk="0">
                  <a:moveTo>
                    <a:pt x="113195" y="42715"/>
                  </a:moveTo>
                  <a:cubicBezTo>
                    <a:pt x="120114" y="64009"/>
                    <a:pt x="113668" y="87378"/>
                    <a:pt x="96810" y="102113"/>
                  </a:cubicBezTo>
                  <a:lnTo>
                    <a:pt x="99192" y="105393"/>
                  </a:lnTo>
                  <a:lnTo>
                    <a:pt x="91080" y="102785"/>
                  </a:lnTo>
                  <a:lnTo>
                    <a:pt x="90825" y="93875"/>
                  </a:lnTo>
                  <a:lnTo>
                    <a:pt x="93207" y="97154"/>
                  </a:lnTo>
                  <a:lnTo>
                    <a:pt x="93207" y="97154"/>
                  </a:lnTo>
                  <a:cubicBezTo>
                    <a:pt x="107930" y="83994"/>
                    <a:pt x="113494" y="63382"/>
                    <a:pt x="107392" y="44601"/>
                  </a:cubicBezTo>
                  <a:close/>
                </a:path>
              </a:pathLst>
            </a:custGeom>
            <a:solidFill>
              <a:srgbClr val="B1C0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1"/>
            <p:cNvSpPr/>
            <p:nvPr/>
          </p:nvSpPr>
          <p:spPr>
            <a:xfrm>
              <a:off x="529356" y="110172"/>
              <a:ext cx="2254332" cy="2254332"/>
            </a:xfrm>
            <a:custGeom>
              <a:avLst/>
              <a:gdLst/>
              <a:ahLst/>
              <a:cxnLst/>
              <a:rect l="l" t="t" r="r" b="b"/>
              <a:pathLst>
                <a:path w="120000" h="120000" extrusionOk="0">
                  <a:moveTo>
                    <a:pt x="92880" y="105248"/>
                  </a:moveTo>
                  <a:cubicBezTo>
                    <a:pt x="74766" y="118411"/>
                    <a:pt x="50547" y="119502"/>
                    <a:pt x="31322" y="108021"/>
                  </a:cubicBezTo>
                  <a:lnTo>
                    <a:pt x="28939" y="111301"/>
                  </a:lnTo>
                  <a:lnTo>
                    <a:pt x="28913" y="102779"/>
                  </a:lnTo>
                  <a:lnTo>
                    <a:pt x="37308" y="99784"/>
                  </a:lnTo>
                  <a:lnTo>
                    <a:pt x="34926" y="103063"/>
                  </a:lnTo>
                  <a:lnTo>
                    <a:pt x="34926" y="103063"/>
                  </a:lnTo>
                  <a:cubicBezTo>
                    <a:pt x="51992" y="113000"/>
                    <a:pt x="73317" y="111921"/>
                    <a:pt x="89293" y="100311"/>
                  </a:cubicBezTo>
                  <a:close/>
                </a:path>
              </a:pathLst>
            </a:custGeom>
            <a:solidFill>
              <a:srgbClr val="B1C0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1"/>
            <p:cNvSpPr/>
            <p:nvPr/>
          </p:nvSpPr>
          <p:spPr>
            <a:xfrm>
              <a:off x="483844" y="77116"/>
              <a:ext cx="2254332" cy="2254332"/>
            </a:xfrm>
            <a:custGeom>
              <a:avLst/>
              <a:gdLst/>
              <a:ahLst/>
              <a:cxnLst/>
              <a:rect l="l" t="t" r="r" b="b"/>
              <a:pathLst>
                <a:path w="120000" h="120000" extrusionOk="0">
                  <a:moveTo>
                    <a:pt x="27127" y="105253"/>
                  </a:moveTo>
                  <a:cubicBezTo>
                    <a:pt x="9012" y="92094"/>
                    <a:pt x="490" y="69400"/>
                    <a:pt x="5466" y="47570"/>
                  </a:cubicBezTo>
                  <a:lnTo>
                    <a:pt x="1610" y="46317"/>
                  </a:lnTo>
                  <a:lnTo>
                    <a:pt x="9707" y="43658"/>
                  </a:lnTo>
                  <a:lnTo>
                    <a:pt x="15150" y="50716"/>
                  </a:lnTo>
                  <a:lnTo>
                    <a:pt x="11296" y="49464"/>
                  </a:lnTo>
                  <a:lnTo>
                    <a:pt x="11296" y="49464"/>
                  </a:lnTo>
                  <a:cubicBezTo>
                    <a:pt x="7121" y="68765"/>
                    <a:pt x="14737" y="88710"/>
                    <a:pt x="30714" y="100316"/>
                  </a:cubicBezTo>
                  <a:close/>
                </a:path>
              </a:pathLst>
            </a:custGeom>
            <a:solidFill>
              <a:srgbClr val="B1C0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1"/>
            <p:cNvSpPr/>
            <p:nvPr/>
          </p:nvSpPr>
          <p:spPr>
            <a:xfrm>
              <a:off x="501271" y="23641"/>
              <a:ext cx="2254332" cy="2254332"/>
            </a:xfrm>
            <a:custGeom>
              <a:avLst/>
              <a:gdLst/>
              <a:ahLst/>
              <a:cxnLst/>
              <a:rect l="l" t="t" r="r" b="b"/>
              <a:pathLst>
                <a:path w="120000" h="120000" extrusionOk="0">
                  <a:moveTo>
                    <a:pt x="6805" y="42714"/>
                  </a:moveTo>
                  <a:cubicBezTo>
                    <a:pt x="13724" y="21424"/>
                    <a:pt x="32669" y="6310"/>
                    <a:pt x="54964" y="4295"/>
                  </a:cubicBezTo>
                  <a:lnTo>
                    <a:pt x="54964" y="240"/>
                  </a:lnTo>
                  <a:lnTo>
                    <a:pt x="59995" y="7118"/>
                  </a:lnTo>
                  <a:lnTo>
                    <a:pt x="54965" y="14477"/>
                  </a:lnTo>
                  <a:lnTo>
                    <a:pt x="54965" y="10424"/>
                  </a:lnTo>
                  <a:lnTo>
                    <a:pt x="54965" y="10424"/>
                  </a:lnTo>
                  <a:cubicBezTo>
                    <a:pt x="35322" y="12419"/>
                    <a:pt x="18710" y="25823"/>
                    <a:pt x="12609" y="44600"/>
                  </a:cubicBezTo>
                  <a:close/>
                </a:path>
              </a:pathLst>
            </a:custGeom>
            <a:solidFill>
              <a:srgbClr val="B1C0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 name="Google Shape;140;p11"/>
          <p:cNvSpPr txBox="1"/>
          <p:nvPr/>
        </p:nvSpPr>
        <p:spPr>
          <a:xfrm>
            <a:off x="2481939" y="984050"/>
            <a:ext cx="2223082" cy="83099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800" b="1" i="0" u="none" strike="noStrike" cap="none">
                <a:solidFill>
                  <a:srgbClr val="000000"/>
                </a:solidFill>
                <a:latin typeface="Open Sans"/>
                <a:ea typeface="Open Sans"/>
                <a:cs typeface="Open Sans"/>
                <a:sym typeface="Open Sans"/>
              </a:rPr>
              <a:t>AC5: Communication</a:t>
            </a:r>
            <a:endParaRPr/>
          </a:p>
          <a:p>
            <a:pPr marL="0" marR="0" lvl="0" indent="0" algn="l" rtl="0">
              <a:lnSpc>
                <a:spcPct val="100000"/>
              </a:lnSpc>
              <a:spcBef>
                <a:spcPts val="0"/>
              </a:spcBef>
              <a:spcAft>
                <a:spcPts val="0"/>
              </a:spcAft>
              <a:buNone/>
            </a:pPr>
            <a:r>
              <a:rPr lang="en-GB" sz="800" b="0" i="0" u="none" strike="noStrike" cap="none">
                <a:solidFill>
                  <a:srgbClr val="7F7F7F"/>
                </a:solidFill>
                <a:latin typeface="Open Sans"/>
                <a:ea typeface="Open Sans"/>
                <a:cs typeface="Open Sans"/>
                <a:sym typeface="Open Sans"/>
              </a:rPr>
              <a:t>Show skills in communicating the meaning, purpose and function of work, including development, outcomes and presentation, in order to engage the audience.</a:t>
            </a:r>
            <a:endParaRPr/>
          </a:p>
        </p:txBody>
      </p:sp>
      <p:sp>
        <p:nvSpPr>
          <p:cNvPr id="28" name="Google Shape;49;p6">
            <a:extLst>
              <a:ext uri="{FF2B5EF4-FFF2-40B4-BE49-F238E27FC236}">
                <a16:creationId xmlns:a16="http://schemas.microsoft.com/office/drawing/2014/main" id="{3FF502A2-7804-47FE-A3FF-1B283366F714}"/>
              </a:ext>
            </a:extLst>
          </p:cNvPr>
          <p:cNvSpPr txBox="1"/>
          <p:nvPr/>
        </p:nvSpPr>
        <p:spPr>
          <a:xfrm>
            <a:off x="6830644" y="468992"/>
            <a:ext cx="2615360"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800" b="1" dirty="0">
                <a:solidFill>
                  <a:srgbClr val="31859B"/>
                </a:solidFill>
                <a:latin typeface="Playfair Display"/>
                <a:ea typeface="Playfair Display"/>
                <a:cs typeface="Playfair Display"/>
                <a:sym typeface="Playfair Display"/>
              </a:rPr>
              <a:t>Progression</a:t>
            </a:r>
            <a:endParaRPr sz="2800" b="1" i="0" u="none" strike="noStrike" cap="none" dirty="0">
              <a:solidFill>
                <a:srgbClr val="31859B"/>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33"/>
        <p:cNvGrpSpPr/>
        <p:nvPr/>
      </p:nvGrpSpPr>
      <p:grpSpPr>
        <a:xfrm>
          <a:off x="0" y="0"/>
          <a:ext cx="0" cy="0"/>
          <a:chOff x="0" y="0"/>
          <a:chExt cx="0" cy="0"/>
        </a:xfrm>
      </p:grpSpPr>
      <p:pic>
        <p:nvPicPr>
          <p:cNvPr id="2" name="Picture 1" descr="matt-noble-VpGAhrqRAsw-unsplash.jp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0" y="0"/>
            <a:ext cx="2916203" cy="5145088"/>
          </a:xfrm>
          <a:prstGeom prst="rect">
            <a:avLst/>
          </a:prstGeom>
        </p:spPr>
      </p:pic>
      <p:sp>
        <p:nvSpPr>
          <p:cNvPr id="139" name="Google Shape;139;p12"/>
          <p:cNvSpPr txBox="1"/>
          <p:nvPr/>
        </p:nvSpPr>
        <p:spPr>
          <a:xfrm>
            <a:off x="1117109" y="84427"/>
            <a:ext cx="1674900" cy="523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r>
              <a:rPr lang="en-GB" sz="2400" b="1" i="0" u="none" strike="noStrike" cap="none" dirty="0">
                <a:solidFill>
                  <a:srgbClr val="FFFFFF"/>
                </a:solidFill>
                <a:latin typeface="Playfair Display"/>
                <a:ea typeface="Playfair Display"/>
                <a:cs typeface="Playfair Display"/>
                <a:sym typeface="Playfair Display"/>
              </a:rPr>
              <a:t>Guidance</a:t>
            </a:r>
            <a:endParaRPr sz="2400" b="1" i="0" u="none" strike="noStrike" cap="none" dirty="0">
              <a:solidFill>
                <a:srgbClr val="FFFFFF"/>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35" name="Google Shape;135;p12"/>
          <p:cNvSpPr txBox="1"/>
          <p:nvPr/>
        </p:nvSpPr>
        <p:spPr>
          <a:xfrm>
            <a:off x="2956802" y="740462"/>
            <a:ext cx="4568342" cy="400286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000" b="1" i="0" u="none" strike="noStrike" cap="none" dirty="0">
              <a:solidFill>
                <a:srgbClr val="31859B"/>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Informing ideas</a:t>
            </a:r>
            <a:endParaRPr dirty="0"/>
          </a:p>
          <a:p>
            <a:pPr marL="12700" marR="5080" lvl="0" indent="-634" algn="l" rtl="0">
              <a:lnSpc>
                <a:spcPct val="100000"/>
              </a:lnSpc>
              <a:spcBef>
                <a:spcPts val="0"/>
              </a:spcBef>
              <a:spcAft>
                <a:spcPts val="0"/>
              </a:spcAft>
              <a:buNone/>
            </a:pPr>
            <a:r>
              <a:rPr lang="en-GB" sz="900" b="0" i="0" u="none" strike="noStrike" cap="none" dirty="0">
                <a:solidFill>
                  <a:srgbClr val="7F7F7F"/>
                </a:solidFill>
                <a:latin typeface="Open Sans"/>
                <a:ea typeface="Open Sans"/>
                <a:cs typeface="Open Sans"/>
                <a:sym typeface="Open Sans"/>
              </a:rPr>
              <a:t>You should inform you ideas at all stages of the assignment. </a:t>
            </a:r>
            <a:endParaRPr sz="900" b="0" i="0" u="none" strike="noStrike" cap="none" dirty="0">
              <a:solidFill>
                <a:srgbClr val="7F7F7F"/>
              </a:solidFill>
              <a:latin typeface="Open Sans"/>
              <a:ea typeface="Open Sans"/>
              <a:cs typeface="Open Sans"/>
              <a:sym typeface="Open Sans"/>
            </a:endParaRPr>
          </a:p>
          <a:p>
            <a:pPr marL="12700" marR="5080" lvl="0" indent="-634" algn="l" rtl="0">
              <a:lnSpc>
                <a:spcPct val="100000"/>
              </a:lnSpc>
              <a:spcBef>
                <a:spcPts val="0"/>
              </a:spcBef>
              <a:spcAft>
                <a:spcPts val="0"/>
              </a:spcAft>
              <a:buNone/>
            </a:pPr>
            <a:r>
              <a:rPr lang="en-GB" sz="900" b="0" i="0" u="none" strike="noStrike" cap="none" dirty="0">
                <a:solidFill>
                  <a:srgbClr val="7F7F7F"/>
                </a:solidFill>
                <a:latin typeface="Open Sans"/>
                <a:ea typeface="Open Sans"/>
                <a:cs typeface="Open Sans"/>
                <a:sym typeface="Open Sans"/>
              </a:rPr>
              <a:t>Considering your own progression options offer a wide range of potential starting points such as:</a:t>
            </a:r>
            <a:endParaRPr dirty="0"/>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Progression opportunities including: </a:t>
            </a:r>
          </a:p>
          <a:p>
            <a:pPr marL="449263" marR="5080" lvl="1" indent="-268288">
              <a:buSzPts val="900"/>
              <a:buFont typeface="Arial"/>
              <a:buChar char="•"/>
            </a:pPr>
            <a:r>
              <a:rPr lang="en-GB" sz="900" dirty="0">
                <a:solidFill>
                  <a:srgbClr val="7F7F7F"/>
                </a:solidFill>
                <a:latin typeface="Open Sans"/>
                <a:ea typeface="Open Sans"/>
                <a:cs typeface="Open Sans"/>
                <a:sym typeface="Open Sans"/>
              </a:rPr>
              <a:t>h</a:t>
            </a:r>
            <a:r>
              <a:rPr lang="en-GB" sz="900" b="0" i="0" u="none" strike="noStrike" cap="none" dirty="0">
                <a:solidFill>
                  <a:srgbClr val="7F7F7F"/>
                </a:solidFill>
                <a:latin typeface="Open Sans"/>
                <a:ea typeface="Open Sans"/>
                <a:cs typeface="Open Sans"/>
                <a:sym typeface="Open Sans"/>
              </a:rPr>
              <a:t>igher education</a:t>
            </a:r>
          </a:p>
          <a:p>
            <a:pPr marL="449263" marR="5080" lvl="1" indent="-268288">
              <a:buSzPts val="900"/>
              <a:buFont typeface="Arial"/>
              <a:buChar char="•"/>
            </a:pPr>
            <a:r>
              <a:rPr lang="en-GB" sz="900" dirty="0">
                <a:solidFill>
                  <a:srgbClr val="7F7F7F"/>
                </a:solidFill>
                <a:latin typeface="Open Sans"/>
                <a:ea typeface="Open Sans"/>
                <a:cs typeface="Open Sans"/>
                <a:sym typeface="Open Sans"/>
              </a:rPr>
              <a:t>e</a:t>
            </a:r>
            <a:r>
              <a:rPr lang="en-GB" sz="900" b="0" i="0" u="none" strike="noStrike" cap="none" dirty="0">
                <a:solidFill>
                  <a:srgbClr val="7F7F7F"/>
                </a:solidFill>
                <a:latin typeface="Open Sans"/>
                <a:ea typeface="Open Sans"/>
                <a:cs typeface="Open Sans"/>
                <a:sym typeface="Open Sans"/>
              </a:rPr>
              <a:t>mployment</a:t>
            </a:r>
          </a:p>
          <a:p>
            <a:pPr marL="449263" marR="5080" lvl="1" indent="-268288">
              <a:buSzPts val="900"/>
              <a:buFont typeface="Arial"/>
              <a:buChar char="•"/>
            </a:pPr>
            <a:r>
              <a:rPr lang="en-GB" sz="900" dirty="0">
                <a:solidFill>
                  <a:srgbClr val="7F7F7F"/>
                </a:solidFill>
                <a:latin typeface="Open Sans"/>
                <a:ea typeface="Open Sans"/>
                <a:cs typeface="Open Sans"/>
                <a:sym typeface="Open Sans"/>
              </a:rPr>
              <a:t>f</a:t>
            </a:r>
            <a:r>
              <a:rPr lang="en-GB" sz="900" b="0" i="0" u="none" strike="noStrike" cap="none" dirty="0">
                <a:solidFill>
                  <a:srgbClr val="7F7F7F"/>
                </a:solidFill>
                <a:latin typeface="Open Sans"/>
                <a:ea typeface="Open Sans"/>
                <a:cs typeface="Open Sans"/>
                <a:sym typeface="Open Sans"/>
              </a:rPr>
              <a:t>urther training </a:t>
            </a:r>
          </a:p>
          <a:p>
            <a:pPr marL="449263" marR="5080" lvl="1" indent="-268288">
              <a:buSzPts val="900"/>
              <a:buFont typeface="Arial"/>
              <a:buChar char="•"/>
            </a:pPr>
            <a:r>
              <a:rPr lang="en-GB" sz="900" dirty="0">
                <a:solidFill>
                  <a:srgbClr val="7F7F7F"/>
                </a:solidFill>
                <a:latin typeface="Open Sans"/>
                <a:ea typeface="Open Sans"/>
                <a:cs typeface="Open Sans"/>
                <a:sym typeface="Open Sans"/>
              </a:rPr>
              <a:t>s</a:t>
            </a:r>
            <a:r>
              <a:rPr lang="en-GB" sz="900" b="0" i="0" u="none" strike="noStrike" cap="none" dirty="0">
                <a:solidFill>
                  <a:srgbClr val="7F7F7F"/>
                </a:solidFill>
                <a:latin typeface="Open Sans"/>
                <a:ea typeface="Open Sans"/>
                <a:cs typeface="Open Sans"/>
                <a:sym typeface="Open Sans"/>
              </a:rPr>
              <a:t>elf </a:t>
            </a:r>
            <a:r>
              <a:rPr lang="en-GB" sz="900" dirty="0">
                <a:solidFill>
                  <a:srgbClr val="7F7F7F"/>
                </a:solidFill>
                <a:latin typeface="Open Sans"/>
                <a:ea typeface="Open Sans"/>
                <a:cs typeface="Open Sans"/>
                <a:sym typeface="Open Sans"/>
              </a:rPr>
              <a:t>e</a:t>
            </a:r>
            <a:r>
              <a:rPr lang="en-GB" sz="900" b="0" i="0" u="none" strike="noStrike" cap="none" dirty="0">
                <a:solidFill>
                  <a:srgbClr val="7F7F7F"/>
                </a:solidFill>
                <a:latin typeface="Open Sans"/>
                <a:ea typeface="Open Sans"/>
                <a:cs typeface="Open Sans"/>
                <a:sym typeface="Open Sans"/>
              </a:rPr>
              <a:t>mployment</a:t>
            </a:r>
            <a:endParaRPr dirty="0"/>
          </a:p>
          <a:p>
            <a:pPr marL="183516" marR="5080" lvl="0" indent="-171450" algn="l" rtl="0">
              <a:lnSpc>
                <a:spcPct val="100000"/>
              </a:lnSpc>
              <a:spcBef>
                <a:spcPts val="0"/>
              </a:spcBef>
              <a:spcAft>
                <a:spcPts val="0"/>
              </a:spcAft>
              <a:buClr>
                <a:srgbClr val="000000"/>
              </a:buClr>
              <a:buSzPts val="900"/>
              <a:buFont typeface="Arial"/>
              <a:buChar char="•"/>
            </a:pPr>
            <a:r>
              <a:rPr lang="en-GB" sz="900" dirty="0">
                <a:solidFill>
                  <a:srgbClr val="7F7F7F"/>
                </a:solidFill>
                <a:latin typeface="Open Sans"/>
                <a:ea typeface="Open Sans"/>
                <a:cs typeface="Open Sans"/>
                <a:sym typeface="Open Sans"/>
              </a:rPr>
              <a:t>Job roles or longer term progression opportunities within your chosen industry</a:t>
            </a:r>
          </a:p>
          <a:p>
            <a:pPr marL="183516" marR="5080" indent="-171450">
              <a:buSzPts val="900"/>
              <a:buFont typeface="Arial"/>
              <a:buChar char="•"/>
            </a:pPr>
            <a:r>
              <a:rPr lang="en-GB" sz="900" dirty="0">
                <a:solidFill>
                  <a:srgbClr val="7F7F7F"/>
                </a:solidFill>
                <a:latin typeface="Open Sans"/>
                <a:ea typeface="Open Sans"/>
                <a:cs typeface="Open Sans"/>
                <a:sym typeface="Open Sans"/>
              </a:rPr>
              <a:t>Useful things you think everyone should know about you</a:t>
            </a:r>
          </a:p>
          <a:p>
            <a:pPr marL="12700" marR="5080" lvl="0" indent="-634"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634" algn="l" rtl="0">
              <a:lnSpc>
                <a:spcPct val="100000"/>
              </a:lnSpc>
              <a:spcBef>
                <a:spcPts val="0"/>
              </a:spcBef>
              <a:spcAft>
                <a:spcPts val="0"/>
              </a:spcAft>
              <a:buNone/>
            </a:pPr>
            <a:r>
              <a:rPr lang="en-GB" sz="900" b="1" i="0" u="none" strike="noStrike" cap="none" dirty="0">
                <a:solidFill>
                  <a:srgbClr val="31859B"/>
                </a:solidFill>
                <a:latin typeface="Playfair Display"/>
                <a:ea typeface="Playfair Display"/>
                <a:cs typeface="Playfair Display"/>
                <a:sym typeface="Playfair Display"/>
              </a:rPr>
              <a:t>Primary and secondary methods for informing ideas:</a:t>
            </a:r>
            <a:endParaRPr sz="900" b="0" i="0" u="none" strike="noStrike" cap="none" dirty="0">
              <a:solidFill>
                <a:srgbClr val="7F7F7F"/>
              </a:solidFill>
              <a:latin typeface="Open Sans"/>
              <a:ea typeface="Open Sans"/>
              <a:cs typeface="Open Sans"/>
              <a:sym typeface="Open Sans"/>
            </a:endParaRPr>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Interpret the brief – requirements, purpose</a:t>
            </a:r>
            <a:endParaRPr dirty="0"/>
          </a:p>
          <a:p>
            <a:pPr marL="183516" marR="5080" lvl="2" indent="-171450">
              <a:buSzPts val="900"/>
              <a:buFont typeface="Arial"/>
              <a:buChar char="•"/>
            </a:pPr>
            <a:r>
              <a:rPr lang="en-US" sz="900" dirty="0">
                <a:solidFill>
                  <a:srgbClr val="7F7F7F"/>
                </a:solidFill>
                <a:latin typeface="Open Sans"/>
                <a:ea typeface="Open Sans"/>
                <a:cs typeface="Open Sans"/>
                <a:sym typeface="Open Sans"/>
              </a:rPr>
              <a:t>Review other practitioners’ online brands and presence</a:t>
            </a:r>
          </a:p>
          <a:p>
            <a:pPr marL="183516" marR="5080" lvl="2"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Explore </a:t>
            </a:r>
            <a:r>
              <a:rPr lang="en-GB" sz="900" dirty="0">
                <a:solidFill>
                  <a:srgbClr val="7F7F7F"/>
                </a:solidFill>
                <a:latin typeface="Open Sans"/>
                <a:ea typeface="Open Sans"/>
                <a:cs typeface="Open Sans"/>
                <a:sym typeface="Open Sans"/>
              </a:rPr>
              <a:t>progression opportunities</a:t>
            </a:r>
            <a:endParaRPr dirty="0"/>
          </a:p>
          <a:p>
            <a:pPr marL="183516" marR="5080" lvl="2"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Explore the creative  </a:t>
            </a:r>
            <a:r>
              <a:rPr lang="en-GB" sz="900" dirty="0">
                <a:solidFill>
                  <a:srgbClr val="7F7F7F"/>
                </a:solidFill>
                <a:latin typeface="Open Sans"/>
                <a:ea typeface="Open Sans"/>
                <a:cs typeface="Open Sans"/>
                <a:sym typeface="Open Sans"/>
              </a:rPr>
              <a:t>industry</a:t>
            </a:r>
            <a:endParaRPr dirty="0"/>
          </a:p>
          <a:p>
            <a:pPr marL="183516" marR="5080" lvl="2"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Explore self employment and funding opportunities</a:t>
            </a:r>
            <a:endParaRPr sz="900" b="0" i="0" u="none" strike="noStrike" cap="none" dirty="0">
              <a:solidFill>
                <a:srgbClr val="7F7F7F"/>
              </a:solidFill>
              <a:latin typeface="Open Sans"/>
              <a:ea typeface="Open Sans"/>
              <a:cs typeface="Open Sans"/>
              <a:sym typeface="Open Sans"/>
            </a:endParaRPr>
          </a:p>
          <a:p>
            <a:pPr marL="183516" marR="5080" lvl="2"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Use of research to inform development, outcomes and presentation to improve and refine work and ideas</a:t>
            </a:r>
            <a:endParaRPr dirty="0"/>
          </a:p>
          <a:p>
            <a:pPr marL="12700" marR="5080" lvl="0" indent="-634"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634" algn="l" rtl="0">
              <a:lnSpc>
                <a:spcPct val="100000"/>
              </a:lnSpc>
              <a:spcBef>
                <a:spcPts val="0"/>
              </a:spcBef>
              <a:spcAft>
                <a:spcPts val="0"/>
              </a:spcAft>
              <a:buNone/>
            </a:pPr>
            <a:r>
              <a:rPr lang="en-GB" sz="900" b="1" dirty="0">
                <a:solidFill>
                  <a:srgbClr val="31859B"/>
                </a:solidFill>
                <a:latin typeface="Playfair Display"/>
                <a:ea typeface="Playfair Display"/>
                <a:cs typeface="Playfair Display"/>
                <a:sym typeface="Playfair Display"/>
              </a:rPr>
              <a:t>E</a:t>
            </a:r>
            <a:r>
              <a:rPr lang="en-GB" sz="900" b="1" i="0" u="none" strike="noStrike" cap="none" dirty="0">
                <a:solidFill>
                  <a:srgbClr val="31859B"/>
                </a:solidFill>
                <a:latin typeface="Playfair Display"/>
                <a:ea typeface="Playfair Display"/>
                <a:cs typeface="Playfair Display"/>
                <a:sym typeface="Playfair Display"/>
              </a:rPr>
              <a:t>vidence could include:</a:t>
            </a:r>
            <a:endParaRPr sz="900" b="0" i="0" u="none" strike="noStrike" cap="none" dirty="0">
              <a:solidFill>
                <a:srgbClr val="7F7F7F"/>
              </a:solidFill>
              <a:latin typeface="Open Sans"/>
              <a:ea typeface="Open Sans"/>
              <a:cs typeface="Open Sans"/>
              <a:sym typeface="Open Sans"/>
            </a:endParaRPr>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Initial presentation of findings - informed by research, explaining how it will meet the brief</a:t>
            </a:r>
          </a:p>
          <a:p>
            <a:pPr marL="183516" marR="5080" lvl="0" indent="-171450" algn="l" rtl="0">
              <a:lnSpc>
                <a:spcPct val="100000"/>
              </a:lnSpc>
              <a:spcBef>
                <a:spcPts val="0"/>
              </a:spcBef>
              <a:spcAft>
                <a:spcPts val="0"/>
              </a:spcAft>
              <a:buClr>
                <a:srgbClr val="000000"/>
              </a:buClr>
              <a:buSzPts val="900"/>
              <a:buFont typeface="Arial"/>
              <a:buChar char="•"/>
            </a:pPr>
            <a:r>
              <a:rPr lang="en-GB" sz="900" dirty="0">
                <a:solidFill>
                  <a:srgbClr val="7F7F7F"/>
                </a:solidFill>
                <a:latin typeface="Open Sans"/>
                <a:ea typeface="Open Sans"/>
                <a:cs typeface="Open Sans"/>
                <a:sym typeface="Open Sans"/>
              </a:rPr>
              <a:t>Performance during mock interview</a:t>
            </a:r>
            <a:endParaRPr sz="900" dirty="0"/>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Blog</a:t>
            </a:r>
            <a:r>
              <a:rPr lang="en-GB" sz="900" dirty="0">
                <a:solidFill>
                  <a:srgbClr val="7F7F7F"/>
                </a:solidFill>
                <a:latin typeface="Open Sans"/>
                <a:ea typeface="Open Sans"/>
                <a:cs typeface="Open Sans"/>
                <a:sym typeface="Open Sans"/>
              </a:rPr>
              <a:t> or </a:t>
            </a:r>
            <a:r>
              <a:rPr lang="en-GB" sz="900" b="0" i="0" u="none" strike="noStrike" cap="none" dirty="0">
                <a:solidFill>
                  <a:srgbClr val="7F7F7F"/>
                </a:solidFill>
                <a:latin typeface="Open Sans"/>
                <a:ea typeface="Open Sans"/>
                <a:cs typeface="Open Sans"/>
                <a:sym typeface="Open Sans"/>
              </a:rPr>
              <a:t>digital portfolio of iterative use of research to inform ideas for development, outcomes and presentation</a:t>
            </a:r>
            <a:endParaRPr sz="900" b="0" i="0" u="none" strike="noStrike" cap="none" dirty="0">
              <a:solidFill>
                <a:srgbClr val="7F7F7F"/>
              </a:solidFill>
              <a:latin typeface="Open Sans"/>
              <a:ea typeface="Open Sans"/>
              <a:cs typeface="Open Sans"/>
              <a:sym typeface="Open Sans"/>
            </a:endParaRPr>
          </a:p>
          <a:p>
            <a:pPr marL="12700" marR="5080" lvl="0" indent="-634"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2539"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2539"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p:txBody>
      </p:sp>
      <p:pic>
        <p:nvPicPr>
          <p:cNvPr id="136" name="Google Shape;136;p12"/>
          <p:cNvPicPr preferRelativeResize="0"/>
          <p:nvPr/>
        </p:nvPicPr>
        <p:blipFill rotWithShape="1">
          <a:blip r:embed="rId4" cstate="print">
            <a:alphaModFix/>
            <a:extLst>
              <a:ext uri="{28A0092B-C50C-407E-A947-70E740481C1C}">
                <a14:useLocalDpi xmlns:a14="http://schemas.microsoft.com/office/drawing/2010/main"/>
              </a:ext>
            </a:extLst>
          </a:blip>
          <a:srcRect/>
          <a:stretch/>
        </p:blipFill>
        <p:spPr>
          <a:xfrm>
            <a:off x="7524924" y="114298"/>
            <a:ext cx="1736521" cy="382087"/>
          </a:xfrm>
          <a:prstGeom prst="rect">
            <a:avLst/>
          </a:prstGeom>
          <a:noFill/>
          <a:ln>
            <a:noFill/>
          </a:ln>
        </p:spPr>
      </p:pic>
      <p:cxnSp>
        <p:nvCxnSpPr>
          <p:cNvPr id="138" name="Google Shape;138;p12"/>
          <p:cNvCxnSpPr/>
          <p:nvPr/>
        </p:nvCxnSpPr>
        <p:spPr>
          <a:xfrm>
            <a:off x="7589775" y="494051"/>
            <a:ext cx="1485799" cy="2334"/>
          </a:xfrm>
          <a:prstGeom prst="straightConnector1">
            <a:avLst/>
          </a:prstGeom>
          <a:noFill/>
          <a:ln w="19050" cap="flat" cmpd="sng">
            <a:solidFill>
              <a:srgbClr val="31859B"/>
            </a:solidFill>
            <a:prstDash val="solid"/>
            <a:round/>
            <a:headEnd type="none" w="sm" len="sm"/>
            <a:tailEnd type="none" w="sm" len="sm"/>
          </a:ln>
        </p:spPr>
      </p:cxnSp>
      <p:sp>
        <p:nvSpPr>
          <p:cNvPr id="8" name="Google Shape;49;p6"/>
          <p:cNvSpPr txBox="1"/>
          <p:nvPr/>
        </p:nvSpPr>
        <p:spPr>
          <a:xfrm>
            <a:off x="6830644" y="468992"/>
            <a:ext cx="2615360"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800" b="1" dirty="0">
                <a:solidFill>
                  <a:srgbClr val="31859B"/>
                </a:solidFill>
                <a:latin typeface="Playfair Display"/>
                <a:ea typeface="Playfair Display"/>
                <a:cs typeface="Playfair Display"/>
                <a:sym typeface="Playfair Display"/>
              </a:rPr>
              <a:t>Progression</a:t>
            </a:r>
            <a:endParaRPr sz="2800" b="1" i="0" u="none" strike="noStrike" cap="none" dirty="0">
              <a:solidFill>
                <a:srgbClr val="31859B"/>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43"/>
        <p:cNvGrpSpPr/>
        <p:nvPr/>
      </p:nvGrpSpPr>
      <p:grpSpPr>
        <a:xfrm>
          <a:off x="0" y="0"/>
          <a:ext cx="0" cy="0"/>
          <a:chOff x="0" y="0"/>
          <a:chExt cx="0" cy="0"/>
        </a:xfrm>
      </p:grpSpPr>
      <p:sp>
        <p:nvSpPr>
          <p:cNvPr id="145" name="Google Shape;145;p13"/>
          <p:cNvSpPr txBox="1"/>
          <p:nvPr/>
        </p:nvSpPr>
        <p:spPr>
          <a:xfrm>
            <a:off x="2956802" y="740462"/>
            <a:ext cx="4184977" cy="30248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000" b="1" i="0" u="none" strike="noStrike" cap="none" dirty="0">
              <a:solidFill>
                <a:srgbClr val="31859B"/>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Problem solving</a:t>
            </a:r>
            <a:endParaRPr dirty="0"/>
          </a:p>
          <a:p>
            <a:pPr marL="12700" marR="5080" lvl="0" indent="-633" algn="l" rtl="0">
              <a:lnSpc>
                <a:spcPct val="100000"/>
              </a:lnSpc>
              <a:spcBef>
                <a:spcPts val="0"/>
              </a:spcBef>
              <a:spcAft>
                <a:spcPts val="0"/>
              </a:spcAft>
              <a:buNone/>
            </a:pPr>
            <a:r>
              <a:rPr lang="en-GB" sz="900" b="0" i="0" u="none" strike="noStrike" cap="none" dirty="0">
                <a:solidFill>
                  <a:srgbClr val="7F7F7F"/>
                </a:solidFill>
                <a:latin typeface="Open Sans"/>
                <a:ea typeface="Open Sans"/>
                <a:cs typeface="Open Sans"/>
                <a:sym typeface="Open Sans"/>
              </a:rPr>
              <a:t>You should use problem solving at all stages of the assignment by testing, review and reflecting on progress of:</a:t>
            </a:r>
            <a:endParaRPr sz="900" b="0" i="0" u="none" strike="noStrike" cap="none" dirty="0">
              <a:solidFill>
                <a:srgbClr val="7F7F7F"/>
              </a:solidFill>
              <a:latin typeface="Open Sans"/>
              <a:ea typeface="Open Sans"/>
              <a:cs typeface="Open Sans"/>
              <a:sym typeface="Open Sans"/>
            </a:endParaRPr>
          </a:p>
          <a:p>
            <a:pPr marL="12700" marR="5080" lvl="0" indent="-634" algn="l" rtl="0">
              <a:lnSpc>
                <a:spcPct val="100000"/>
              </a:lnSpc>
              <a:spcBef>
                <a:spcPts val="0"/>
              </a:spcBef>
              <a:spcAft>
                <a:spcPts val="0"/>
              </a:spcAft>
              <a:buNone/>
            </a:pPr>
            <a:endParaRPr sz="900" dirty="0">
              <a:solidFill>
                <a:srgbClr val="7F7F7F"/>
              </a:solidFill>
              <a:latin typeface="Open Sans"/>
              <a:ea typeface="Open Sans"/>
              <a:cs typeface="Open Sans"/>
              <a:sym typeface="Open Sans"/>
            </a:endParaRPr>
          </a:p>
          <a:p>
            <a:pPr marL="183516" marR="5080" indent="-171450">
              <a:buSzPts val="900"/>
              <a:buFont typeface="Arial"/>
              <a:buChar char="•"/>
            </a:pPr>
            <a:r>
              <a:rPr lang="en-GB" sz="900" b="0" i="0" u="none" strike="noStrike" cap="none" dirty="0">
                <a:solidFill>
                  <a:srgbClr val="7F7F7F"/>
                </a:solidFill>
                <a:latin typeface="Open Sans"/>
                <a:ea typeface="Open Sans"/>
                <a:cs typeface="Open Sans"/>
                <a:sym typeface="Open Sans"/>
              </a:rPr>
              <a:t>Interpreting the brief,  requirements, </a:t>
            </a:r>
            <a:r>
              <a:rPr lang="en-GB" sz="900" dirty="0">
                <a:solidFill>
                  <a:srgbClr val="7F7F7F"/>
                </a:solidFill>
                <a:latin typeface="Open Sans"/>
                <a:ea typeface="Open Sans"/>
                <a:cs typeface="Open Sans"/>
                <a:sym typeface="Open Sans"/>
              </a:rPr>
              <a:t>purpose</a:t>
            </a:r>
          </a:p>
          <a:p>
            <a:pPr marL="183516" marR="5080" indent="-171450">
              <a:buSzPts val="900"/>
              <a:buFont typeface="Arial"/>
              <a:buChar char="•"/>
            </a:pPr>
            <a:r>
              <a:rPr lang="en-GB" sz="900" dirty="0">
                <a:solidFill>
                  <a:srgbClr val="7F7F7F"/>
                </a:solidFill>
                <a:latin typeface="Open Sans"/>
                <a:ea typeface="Open Sans"/>
                <a:cs typeface="Open Sans"/>
                <a:sym typeface="Open Sans"/>
              </a:rPr>
              <a:t>Identifying career aspirations and skills required.</a:t>
            </a:r>
          </a:p>
          <a:p>
            <a:pPr marL="183516" marR="5080" indent="-171450">
              <a:buSzPts val="900"/>
              <a:buFont typeface="Arial"/>
              <a:buChar char="•"/>
            </a:pPr>
            <a:r>
              <a:rPr lang="en-GB" sz="900" dirty="0">
                <a:solidFill>
                  <a:srgbClr val="7F7F7F"/>
                </a:solidFill>
                <a:latin typeface="Open Sans"/>
                <a:ea typeface="Open Sans"/>
                <a:cs typeface="Open Sans"/>
                <a:sym typeface="Open Sans"/>
              </a:rPr>
              <a:t>Establishing short-, medium- and long-term progression aims.</a:t>
            </a:r>
          </a:p>
          <a:p>
            <a:pPr marL="183516" marR="5080" indent="-171450">
              <a:buSzPts val="900"/>
              <a:buFont typeface="Arial"/>
              <a:buChar char="•"/>
            </a:pPr>
            <a:r>
              <a:rPr lang="en-GB" sz="900" b="0" i="0" u="none" strike="noStrike" cap="none" dirty="0">
                <a:solidFill>
                  <a:srgbClr val="7F7F7F"/>
                </a:solidFill>
                <a:latin typeface="Open Sans"/>
                <a:ea typeface="Open Sans"/>
                <a:cs typeface="Open Sans"/>
                <a:sym typeface="Open Sans"/>
              </a:rPr>
              <a:t>Generating </a:t>
            </a:r>
            <a:r>
              <a:rPr lang="en-GB" sz="900" dirty="0">
                <a:solidFill>
                  <a:srgbClr val="7F7F7F"/>
                </a:solidFill>
                <a:latin typeface="Open Sans"/>
                <a:ea typeface="Open Sans"/>
                <a:cs typeface="Open Sans"/>
                <a:sym typeface="Open Sans"/>
              </a:rPr>
              <a:t>an online personal brand identity</a:t>
            </a:r>
            <a:endParaRPr dirty="0"/>
          </a:p>
          <a:p>
            <a:pPr marL="183516" marR="5080" lvl="0" indent="-171450">
              <a:buSzPts val="900"/>
              <a:buFont typeface="Arial"/>
              <a:buChar char="•"/>
            </a:pPr>
            <a:r>
              <a:rPr lang="en-GB" sz="900" dirty="0">
                <a:solidFill>
                  <a:srgbClr val="7F7F7F"/>
                </a:solidFill>
                <a:latin typeface="Open Sans"/>
                <a:ea typeface="Open Sans"/>
                <a:cs typeface="Open Sans"/>
                <a:sym typeface="Open Sans"/>
              </a:rPr>
              <a:t>Applying stages of the creative process in order to develop and refine</a:t>
            </a:r>
            <a:endParaRPr lang="en-GB" sz="900" dirty="0"/>
          </a:p>
          <a:p>
            <a:pPr marL="183516" marR="5080" indent="-171450">
              <a:buSzPts val="900"/>
              <a:buFont typeface="Arial"/>
              <a:buChar char="•"/>
            </a:pPr>
            <a:r>
              <a:rPr lang="en-US" sz="900" dirty="0">
                <a:solidFill>
                  <a:srgbClr val="7F7F7F"/>
                </a:solidFill>
                <a:latin typeface="Open Sans"/>
                <a:ea typeface="Open Sans"/>
                <a:cs typeface="Open Sans"/>
                <a:sym typeface="Open Sans"/>
              </a:rPr>
              <a:t>Obtaining and acting on constructive feedback. </a:t>
            </a:r>
            <a:endParaRPr lang="en-US" sz="900" dirty="0"/>
          </a:p>
          <a:p>
            <a:pPr marL="12700" marR="5080" lvl="0" indent="-634"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633" algn="l" rtl="0">
              <a:spcBef>
                <a:spcPts val="0"/>
              </a:spcBef>
              <a:spcAft>
                <a:spcPts val="0"/>
              </a:spcAft>
              <a:buClr>
                <a:schemeClr val="dk1"/>
              </a:buClr>
              <a:buFont typeface="Arial"/>
              <a:buNone/>
            </a:pPr>
            <a:r>
              <a:rPr lang="en-GB" sz="900" b="1" dirty="0">
                <a:solidFill>
                  <a:srgbClr val="31859B"/>
                </a:solidFill>
                <a:latin typeface="Playfair Display"/>
                <a:ea typeface="Playfair Display"/>
                <a:cs typeface="Playfair Display"/>
                <a:sym typeface="Playfair Display"/>
              </a:rPr>
              <a:t>Evidence could include:</a:t>
            </a:r>
            <a:endParaRPr sz="900" b="0" i="0" u="none" strike="noStrike" cap="none" dirty="0">
              <a:solidFill>
                <a:srgbClr val="7F7F7F"/>
              </a:solidFill>
              <a:latin typeface="Open Sans"/>
              <a:ea typeface="Open Sans"/>
              <a:cs typeface="Open Sans"/>
              <a:sym typeface="Open Sans"/>
            </a:endParaRPr>
          </a:p>
          <a:p>
            <a:pPr marL="12066" marR="5080" lvl="0" indent="0" algn="l" rtl="0">
              <a:lnSpc>
                <a:spcPct val="100000"/>
              </a:lnSpc>
              <a:spcBef>
                <a:spcPts val="0"/>
              </a:spcBef>
              <a:spcAft>
                <a:spcPts val="0"/>
              </a:spcAft>
              <a:buNone/>
            </a:pPr>
            <a:r>
              <a:rPr lang="en-GB" sz="900" b="0" i="0" u="none" strike="noStrike" cap="none" dirty="0">
                <a:solidFill>
                  <a:srgbClr val="7F7F7F"/>
                </a:solidFill>
                <a:latin typeface="Open Sans"/>
                <a:ea typeface="Open Sans"/>
                <a:cs typeface="Open Sans"/>
                <a:sym typeface="Open Sans"/>
              </a:rPr>
              <a:t>Blog, </a:t>
            </a:r>
            <a:r>
              <a:rPr lang="en-GB" sz="900" dirty="0">
                <a:solidFill>
                  <a:srgbClr val="7F7F7F"/>
                </a:solidFill>
                <a:latin typeface="Open Sans"/>
                <a:ea typeface="Open Sans"/>
                <a:cs typeface="Open Sans"/>
                <a:sym typeface="Open Sans"/>
              </a:rPr>
              <a:t>digital portfolio and/or </a:t>
            </a:r>
            <a:r>
              <a:rPr lang="en-GB" sz="900" b="0" i="0" u="none" strike="noStrike" cap="none" dirty="0">
                <a:solidFill>
                  <a:srgbClr val="7F7F7F"/>
                </a:solidFill>
                <a:latin typeface="Open Sans"/>
                <a:ea typeface="Open Sans"/>
                <a:cs typeface="Open Sans"/>
                <a:sym typeface="Open Sans"/>
              </a:rPr>
              <a:t>sketchbook documenting:</a:t>
            </a:r>
            <a:endParaRPr sz="900" b="0" i="0" u="none" strike="noStrike" cap="none" dirty="0">
              <a:solidFill>
                <a:srgbClr val="7F7F7F"/>
              </a:solidFill>
              <a:latin typeface="Open Sans"/>
              <a:ea typeface="Open Sans"/>
              <a:cs typeface="Open Sans"/>
              <a:sym typeface="Open Sans"/>
            </a:endParaRPr>
          </a:p>
          <a:p>
            <a:pPr marL="12066" marR="5080" lvl="0" indent="0" algn="l" rtl="0">
              <a:lnSpc>
                <a:spcPct val="100000"/>
              </a:lnSpc>
              <a:spcBef>
                <a:spcPts val="0"/>
              </a:spcBef>
              <a:spcAft>
                <a:spcPts val="0"/>
              </a:spcAft>
              <a:buNone/>
            </a:pPr>
            <a:endParaRPr sz="900" dirty="0">
              <a:solidFill>
                <a:srgbClr val="7F7F7F"/>
              </a:solidFill>
              <a:latin typeface="Open Sans"/>
              <a:ea typeface="Open Sans"/>
              <a:cs typeface="Open Sans"/>
              <a:sym typeface="Open Sans"/>
            </a:endParaRPr>
          </a:p>
          <a:p>
            <a:pPr marL="183516" marR="5080" indent="-171450">
              <a:buSzPts val="900"/>
              <a:buFont typeface="Arial"/>
              <a:buChar char="•"/>
            </a:pPr>
            <a:r>
              <a:rPr lang="en-GB" sz="900" dirty="0">
                <a:solidFill>
                  <a:srgbClr val="7F7F7F"/>
                </a:solidFill>
                <a:latin typeface="Open Sans"/>
                <a:ea typeface="Open Sans"/>
                <a:cs typeface="Open Sans"/>
                <a:sym typeface="Open Sans"/>
              </a:rPr>
              <a:t>Online personal brand identity</a:t>
            </a:r>
            <a:endParaRPr sz="900" dirty="0">
              <a:solidFill>
                <a:srgbClr val="7F7F7F"/>
              </a:solidFill>
              <a:latin typeface="Open Sans"/>
              <a:ea typeface="Open Sans"/>
              <a:cs typeface="Open Sans"/>
              <a:sym typeface="Open Sans"/>
            </a:endParaRPr>
          </a:p>
          <a:p>
            <a:pPr marL="183516" marR="5080" lvl="0" indent="-171450" algn="l" rtl="0">
              <a:lnSpc>
                <a:spcPct val="100000"/>
              </a:lnSpc>
              <a:spcBef>
                <a:spcPts val="0"/>
              </a:spcBef>
              <a:spcAft>
                <a:spcPts val="0"/>
              </a:spcAft>
              <a:buClr>
                <a:srgbClr val="000000"/>
              </a:buClr>
              <a:buSzPts val="900"/>
              <a:buFont typeface="Arial"/>
              <a:buChar char="•"/>
            </a:pPr>
            <a:r>
              <a:rPr lang="en-GB" sz="900" dirty="0">
                <a:solidFill>
                  <a:srgbClr val="7F7F7F"/>
                </a:solidFill>
                <a:latin typeface="Open Sans"/>
                <a:ea typeface="Open Sans"/>
                <a:cs typeface="Open Sans"/>
                <a:sym typeface="Open Sans"/>
              </a:rPr>
              <a:t>Ongoing</a:t>
            </a:r>
            <a:r>
              <a:rPr lang="en-GB" sz="900" b="0" i="0" u="none" strike="noStrike" cap="none" dirty="0">
                <a:solidFill>
                  <a:srgbClr val="7F7F7F"/>
                </a:solidFill>
                <a:latin typeface="Open Sans"/>
                <a:ea typeface="Open Sans"/>
                <a:cs typeface="Open Sans"/>
                <a:sym typeface="Open Sans"/>
              </a:rPr>
              <a:t> testing review and reflection</a:t>
            </a:r>
            <a:endParaRPr dirty="0"/>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Iterative development and refinement or work and ideas</a:t>
            </a:r>
            <a:endParaRPr sz="900" b="0" i="0" u="none" strike="noStrike" cap="none" dirty="0">
              <a:solidFill>
                <a:srgbClr val="7F7F7F"/>
              </a:solidFill>
              <a:latin typeface="Open Sans"/>
              <a:ea typeface="Open Sans"/>
              <a:cs typeface="Open Sans"/>
              <a:sym typeface="Open Sans"/>
            </a:endParaRPr>
          </a:p>
          <a:p>
            <a:pPr marL="12700" marR="5080" lvl="0" indent="-634"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2539"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2539"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p:txBody>
      </p:sp>
      <p:pic>
        <p:nvPicPr>
          <p:cNvPr id="146" name="Google Shape;146;p13"/>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7524924" y="114298"/>
            <a:ext cx="1736521" cy="382087"/>
          </a:xfrm>
          <a:prstGeom prst="rect">
            <a:avLst/>
          </a:prstGeom>
          <a:noFill/>
          <a:ln>
            <a:noFill/>
          </a:ln>
        </p:spPr>
      </p:pic>
      <p:cxnSp>
        <p:nvCxnSpPr>
          <p:cNvPr id="148" name="Google Shape;148;p13"/>
          <p:cNvCxnSpPr/>
          <p:nvPr/>
        </p:nvCxnSpPr>
        <p:spPr>
          <a:xfrm>
            <a:off x="7589775" y="494051"/>
            <a:ext cx="1485799" cy="2334"/>
          </a:xfrm>
          <a:prstGeom prst="straightConnector1">
            <a:avLst/>
          </a:prstGeom>
          <a:noFill/>
          <a:ln w="19050" cap="flat" cmpd="sng">
            <a:solidFill>
              <a:srgbClr val="31859B"/>
            </a:solidFill>
            <a:prstDash val="solid"/>
            <a:round/>
            <a:headEnd type="none" w="sm" len="sm"/>
            <a:tailEnd type="none" w="sm" len="sm"/>
          </a:ln>
        </p:spPr>
      </p:cxnSp>
      <p:pic>
        <p:nvPicPr>
          <p:cNvPr id="2" name="Picture 1" descr="helen-ngoc-n-Ln-OU_YMnmU-unsplash.jpg"/>
          <p:cNvPicPr>
            <a:picLocks noChangeAspect="1"/>
          </p:cNvPicPr>
          <p:nvPr/>
        </p:nvPicPr>
        <p:blipFill rotWithShape="1">
          <a:blip r:embed="rId4" cstate="print">
            <a:extLst>
              <a:ext uri="{28A0092B-C50C-407E-A947-70E740481C1C}">
                <a14:useLocalDpi xmlns:a14="http://schemas.microsoft.com/office/drawing/2010/main"/>
              </a:ext>
            </a:extLst>
          </a:blip>
          <a:srcRect t="-1708" r="-17208"/>
          <a:stretch/>
        </p:blipFill>
        <p:spPr>
          <a:xfrm>
            <a:off x="0" y="-98523"/>
            <a:ext cx="3429376" cy="5260060"/>
          </a:xfrm>
          <a:prstGeom prst="rect">
            <a:avLst/>
          </a:prstGeom>
        </p:spPr>
      </p:pic>
      <p:sp>
        <p:nvSpPr>
          <p:cNvPr id="8" name="Google Shape;49;p6"/>
          <p:cNvSpPr txBox="1"/>
          <p:nvPr/>
        </p:nvSpPr>
        <p:spPr>
          <a:xfrm>
            <a:off x="6830644" y="468992"/>
            <a:ext cx="2615360"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800" b="1" dirty="0">
                <a:solidFill>
                  <a:srgbClr val="31859B"/>
                </a:solidFill>
                <a:latin typeface="Playfair Display"/>
                <a:ea typeface="Playfair Display"/>
                <a:cs typeface="Playfair Display"/>
                <a:sym typeface="Playfair Display"/>
              </a:rPr>
              <a:t>Progression</a:t>
            </a:r>
            <a:endParaRPr sz="2800" b="1" i="0" u="none" strike="noStrike" cap="none" dirty="0">
              <a:solidFill>
                <a:srgbClr val="31859B"/>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 name="Google Shape;139;p12">
            <a:extLst>
              <a:ext uri="{FF2B5EF4-FFF2-40B4-BE49-F238E27FC236}">
                <a16:creationId xmlns:a16="http://schemas.microsoft.com/office/drawing/2014/main" id="{B487C1BC-5257-46BC-87FB-268ABF19619E}"/>
              </a:ext>
            </a:extLst>
          </p:cNvPr>
          <p:cNvSpPr txBox="1"/>
          <p:nvPr/>
        </p:nvSpPr>
        <p:spPr>
          <a:xfrm>
            <a:off x="1117109" y="84427"/>
            <a:ext cx="1674900" cy="523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r>
              <a:rPr lang="en-GB" sz="2400" b="1" i="0" u="none" strike="noStrike" cap="none" dirty="0">
                <a:solidFill>
                  <a:srgbClr val="FFFFFF"/>
                </a:solidFill>
                <a:latin typeface="Playfair Display"/>
                <a:ea typeface="Playfair Display"/>
                <a:cs typeface="Playfair Display"/>
                <a:sym typeface="Playfair Display"/>
              </a:rPr>
              <a:t>Guidance</a:t>
            </a:r>
            <a:endParaRPr sz="2400" b="1" i="0" u="none" strike="noStrike" cap="none" dirty="0">
              <a:solidFill>
                <a:srgbClr val="FFFFFF"/>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53"/>
        <p:cNvGrpSpPr/>
        <p:nvPr/>
      </p:nvGrpSpPr>
      <p:grpSpPr>
        <a:xfrm>
          <a:off x="0" y="0"/>
          <a:ext cx="0" cy="0"/>
          <a:chOff x="0" y="0"/>
          <a:chExt cx="0" cy="0"/>
        </a:xfrm>
      </p:grpSpPr>
      <p:sp>
        <p:nvSpPr>
          <p:cNvPr id="155" name="Google Shape;155;p14"/>
          <p:cNvSpPr txBox="1"/>
          <p:nvPr/>
        </p:nvSpPr>
        <p:spPr>
          <a:xfrm>
            <a:off x="2956802" y="740462"/>
            <a:ext cx="4184977" cy="299819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000" b="1" i="0" u="none" strike="noStrike" cap="none" dirty="0">
              <a:solidFill>
                <a:srgbClr val="31859B"/>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Technical skills</a:t>
            </a:r>
            <a:endParaRPr dirty="0"/>
          </a:p>
          <a:p>
            <a:pPr marL="12700" marR="5080" lvl="0" indent="-633" algn="l" rtl="0">
              <a:lnSpc>
                <a:spcPct val="100000"/>
              </a:lnSpc>
              <a:spcBef>
                <a:spcPts val="0"/>
              </a:spcBef>
              <a:spcAft>
                <a:spcPts val="0"/>
              </a:spcAft>
              <a:buNone/>
            </a:pPr>
            <a:r>
              <a:rPr lang="en-GB" sz="900" b="0" i="0" u="none" strike="noStrike" cap="none" dirty="0">
                <a:solidFill>
                  <a:srgbClr val="7F7F7F"/>
                </a:solidFill>
                <a:latin typeface="Open Sans"/>
                <a:ea typeface="Open Sans"/>
                <a:cs typeface="Open Sans"/>
                <a:sym typeface="Open Sans"/>
              </a:rPr>
              <a:t>You should use the most appropriate and effective technical skills throughout your project:</a:t>
            </a:r>
            <a:endParaRPr sz="900" b="0" i="0" u="none" strike="noStrike" cap="none" dirty="0">
              <a:solidFill>
                <a:srgbClr val="7F7F7F"/>
              </a:solidFill>
              <a:latin typeface="Open Sans"/>
              <a:ea typeface="Open Sans"/>
              <a:cs typeface="Open Sans"/>
              <a:sym typeface="Open Sans"/>
            </a:endParaRPr>
          </a:p>
          <a:p>
            <a:pPr marL="12700" marR="5080" lvl="0" indent="-633" algn="l" rtl="0">
              <a:lnSpc>
                <a:spcPct val="100000"/>
              </a:lnSpc>
              <a:spcBef>
                <a:spcPts val="0"/>
              </a:spcBef>
              <a:spcAft>
                <a:spcPts val="0"/>
              </a:spcAft>
              <a:buNone/>
            </a:pPr>
            <a:endParaRPr sz="900" dirty="0">
              <a:solidFill>
                <a:srgbClr val="7F7F7F"/>
              </a:solidFill>
              <a:latin typeface="Open Sans"/>
              <a:ea typeface="Open Sans"/>
              <a:cs typeface="Open Sans"/>
              <a:sym typeface="Open Sans"/>
            </a:endParaRPr>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Development of work</a:t>
            </a:r>
            <a:r>
              <a:rPr lang="en-GB" sz="900" dirty="0">
                <a:solidFill>
                  <a:srgbClr val="7F7F7F"/>
                </a:solidFill>
                <a:latin typeface="Open Sans"/>
                <a:ea typeface="Open Sans"/>
                <a:cs typeface="Open Sans"/>
                <a:sym typeface="Open Sans"/>
              </a:rPr>
              <a:t>:</a:t>
            </a:r>
            <a:endParaRPr sz="900" dirty="0">
              <a:solidFill>
                <a:srgbClr val="7F7F7F"/>
              </a:solidFill>
              <a:latin typeface="Open Sans"/>
              <a:ea typeface="Open Sans"/>
              <a:cs typeface="Open Sans"/>
              <a:sym typeface="Open Sans"/>
            </a:endParaRPr>
          </a:p>
          <a:p>
            <a:pPr marL="914400" marR="5080" lvl="1" indent="-285750">
              <a:buSzPts val="900"/>
              <a:buFont typeface="Arial"/>
              <a:buChar char="○"/>
            </a:pPr>
            <a:r>
              <a:rPr lang="en-US" sz="900" dirty="0">
                <a:solidFill>
                  <a:srgbClr val="7F7F7F"/>
                </a:solidFill>
                <a:latin typeface="Open Sans"/>
                <a:ea typeface="Open Sans"/>
                <a:cs typeface="Open Sans"/>
                <a:sym typeface="Open Sans"/>
              </a:rPr>
              <a:t>capturing/recording, editing and </a:t>
            </a:r>
            <a:r>
              <a:rPr lang="en-US" sz="900" dirty="0" err="1">
                <a:solidFill>
                  <a:srgbClr val="7F7F7F"/>
                </a:solidFill>
                <a:latin typeface="Open Sans"/>
                <a:ea typeface="Open Sans"/>
                <a:cs typeface="Open Sans"/>
                <a:sym typeface="Open Sans"/>
              </a:rPr>
              <a:t>organising</a:t>
            </a:r>
            <a:r>
              <a:rPr lang="en-US" sz="900" dirty="0">
                <a:solidFill>
                  <a:srgbClr val="7F7F7F"/>
                </a:solidFill>
                <a:latin typeface="Open Sans"/>
                <a:ea typeface="Open Sans"/>
                <a:cs typeface="Open Sans"/>
                <a:sym typeface="Open Sans"/>
              </a:rPr>
              <a:t> material</a:t>
            </a:r>
          </a:p>
          <a:p>
            <a:pPr marL="914400" marR="5080" lvl="1" indent="-285750">
              <a:buSzPts val="900"/>
              <a:buFont typeface="Arial"/>
              <a:buChar char="○"/>
            </a:pPr>
            <a:r>
              <a:rPr lang="en-GB" sz="900" b="0" i="0" u="none" strike="noStrike" cap="none" dirty="0">
                <a:solidFill>
                  <a:srgbClr val="7F7F7F"/>
                </a:solidFill>
                <a:latin typeface="Open Sans"/>
                <a:ea typeface="Open Sans"/>
                <a:cs typeface="Open Sans"/>
                <a:sym typeface="Open Sans"/>
              </a:rPr>
              <a:t>t</a:t>
            </a:r>
            <a:r>
              <a:rPr lang="en-GB" sz="900" dirty="0">
                <a:solidFill>
                  <a:srgbClr val="7F7F7F"/>
                </a:solidFill>
                <a:latin typeface="Open Sans"/>
                <a:ea typeface="Open Sans"/>
                <a:cs typeface="Open Sans"/>
                <a:sym typeface="Open Sans"/>
              </a:rPr>
              <a:t>rying different techniques and seeing what is the most useful</a:t>
            </a:r>
            <a:endParaRPr sz="900" dirty="0">
              <a:solidFill>
                <a:srgbClr val="7F7F7F"/>
              </a:solidFill>
              <a:latin typeface="Open Sans"/>
              <a:ea typeface="Open Sans"/>
              <a:cs typeface="Open Sans"/>
              <a:sym typeface="Open Sans"/>
            </a:endParaRPr>
          </a:p>
          <a:p>
            <a:pPr marL="914400" marR="5080" lvl="1" indent="-285750" algn="l" rtl="0">
              <a:lnSpc>
                <a:spcPct val="100000"/>
              </a:lnSpc>
              <a:spcBef>
                <a:spcPts val="0"/>
              </a:spcBef>
              <a:spcAft>
                <a:spcPts val="0"/>
              </a:spcAft>
              <a:buClr>
                <a:srgbClr val="7F7F7F"/>
              </a:buClr>
              <a:buSzPts val="900"/>
              <a:buFont typeface="Open Sans"/>
              <a:buChar char="○"/>
            </a:pPr>
            <a:r>
              <a:rPr lang="en-GB" sz="900" dirty="0">
                <a:solidFill>
                  <a:srgbClr val="7F7F7F"/>
                </a:solidFill>
                <a:latin typeface="Open Sans"/>
                <a:ea typeface="Open Sans"/>
                <a:cs typeface="Open Sans"/>
                <a:sym typeface="Open Sans"/>
              </a:rPr>
              <a:t>exploring the properties of different media and different platforms and making comparisons</a:t>
            </a:r>
            <a:endParaRPr sz="900" dirty="0">
              <a:solidFill>
                <a:srgbClr val="7F7F7F"/>
              </a:solidFill>
              <a:latin typeface="Open Sans"/>
              <a:ea typeface="Open Sans"/>
              <a:cs typeface="Open Sans"/>
              <a:sym typeface="Open Sans"/>
            </a:endParaRPr>
          </a:p>
          <a:p>
            <a:pPr marL="914400" marR="5080" lvl="1" indent="-285750" algn="l" rtl="0">
              <a:lnSpc>
                <a:spcPct val="100000"/>
              </a:lnSpc>
              <a:spcBef>
                <a:spcPts val="0"/>
              </a:spcBef>
              <a:spcAft>
                <a:spcPts val="0"/>
              </a:spcAft>
              <a:buClr>
                <a:srgbClr val="7F7F7F"/>
              </a:buClr>
              <a:buSzPts val="900"/>
              <a:buFont typeface="Open Sans"/>
              <a:buChar char="○"/>
            </a:pPr>
            <a:r>
              <a:rPr lang="en-GB" sz="900" dirty="0">
                <a:solidFill>
                  <a:srgbClr val="7F7F7F"/>
                </a:solidFill>
                <a:latin typeface="Open Sans"/>
                <a:ea typeface="Open Sans"/>
                <a:cs typeface="Open Sans"/>
                <a:sym typeface="Open Sans"/>
              </a:rPr>
              <a:t>taking work through a series of different processes to compare outcomes.</a:t>
            </a:r>
            <a:endParaRPr sz="900" dirty="0">
              <a:solidFill>
                <a:srgbClr val="7F7F7F"/>
              </a:solidFill>
              <a:latin typeface="Open Sans"/>
              <a:ea typeface="Open Sans"/>
              <a:cs typeface="Open Sans"/>
              <a:sym typeface="Open Sans"/>
            </a:endParaRPr>
          </a:p>
          <a:p>
            <a:pPr marL="183516" marR="5080" lvl="0" indent="-171450">
              <a:buSzPts val="900"/>
              <a:buFont typeface="Arial"/>
              <a:buChar char="•"/>
            </a:pPr>
            <a:r>
              <a:rPr lang="en-GB" sz="900" b="0" i="0" u="none" strike="noStrike" cap="none" dirty="0">
                <a:solidFill>
                  <a:srgbClr val="7F7F7F"/>
                </a:solidFill>
                <a:latin typeface="Open Sans"/>
                <a:ea typeface="Open Sans"/>
                <a:cs typeface="Open Sans"/>
                <a:sym typeface="Open Sans"/>
              </a:rPr>
              <a:t>Production of </a:t>
            </a:r>
            <a:r>
              <a:rPr lang="en-GB" sz="900" dirty="0">
                <a:solidFill>
                  <a:srgbClr val="7F7F7F"/>
                </a:solidFill>
                <a:latin typeface="Open Sans"/>
                <a:ea typeface="Open Sans"/>
                <a:cs typeface="Open Sans"/>
                <a:sym typeface="Open Sans"/>
              </a:rPr>
              <a:t>online personal brand identity</a:t>
            </a:r>
          </a:p>
          <a:p>
            <a:pPr marL="12066" marR="5080" lvl="0">
              <a:buSzPts val="900"/>
            </a:pPr>
            <a:endParaRPr sz="900" b="0" i="0" u="none" strike="noStrike" cap="none" dirty="0">
              <a:solidFill>
                <a:srgbClr val="7F7F7F"/>
              </a:solidFill>
              <a:latin typeface="Open Sans"/>
              <a:ea typeface="Open Sans"/>
              <a:cs typeface="Open Sans"/>
              <a:sym typeface="Open Sans"/>
            </a:endParaRPr>
          </a:p>
          <a:p>
            <a:pPr marL="12700" marR="5080" lvl="0" indent="-633" algn="l" rtl="0">
              <a:spcBef>
                <a:spcPts val="0"/>
              </a:spcBef>
              <a:spcAft>
                <a:spcPts val="0"/>
              </a:spcAft>
              <a:buClr>
                <a:schemeClr val="dk1"/>
              </a:buClr>
              <a:buFont typeface="Arial"/>
              <a:buNone/>
            </a:pPr>
            <a:r>
              <a:rPr lang="en-GB" sz="900" b="1" dirty="0">
                <a:solidFill>
                  <a:srgbClr val="31859B"/>
                </a:solidFill>
                <a:latin typeface="Playfair Display"/>
                <a:ea typeface="Playfair Display"/>
                <a:cs typeface="Playfair Display"/>
                <a:sym typeface="Playfair Display"/>
              </a:rPr>
              <a:t>Evidence could include:</a:t>
            </a:r>
            <a:endParaRPr sz="900" b="0" i="0" u="none" strike="noStrike" cap="none" dirty="0">
              <a:solidFill>
                <a:srgbClr val="7F7F7F"/>
              </a:solidFill>
              <a:latin typeface="Open Sans"/>
              <a:ea typeface="Open Sans"/>
              <a:cs typeface="Open Sans"/>
              <a:sym typeface="Open Sans"/>
            </a:endParaRPr>
          </a:p>
          <a:p>
            <a:pPr marL="12066" marR="5080" lvl="0" indent="0" algn="l" rtl="0">
              <a:lnSpc>
                <a:spcPct val="100000"/>
              </a:lnSpc>
              <a:spcBef>
                <a:spcPts val="0"/>
              </a:spcBef>
              <a:spcAft>
                <a:spcPts val="0"/>
              </a:spcAft>
              <a:buNone/>
            </a:pPr>
            <a:r>
              <a:rPr lang="en-GB" sz="900" b="0" i="0" u="none" strike="noStrike" cap="none" dirty="0">
                <a:solidFill>
                  <a:srgbClr val="7F7F7F"/>
                </a:solidFill>
                <a:latin typeface="Open Sans"/>
                <a:ea typeface="Open Sans"/>
                <a:cs typeface="Open Sans"/>
                <a:sym typeface="Open Sans"/>
              </a:rPr>
              <a:t>Blog</a:t>
            </a:r>
            <a:r>
              <a:rPr lang="en-GB" sz="900" dirty="0">
                <a:solidFill>
                  <a:srgbClr val="7F7F7F"/>
                </a:solidFill>
                <a:latin typeface="Open Sans"/>
                <a:ea typeface="Open Sans"/>
                <a:cs typeface="Open Sans"/>
                <a:sym typeface="Open Sans"/>
              </a:rPr>
              <a:t>, digital portfolio and/or </a:t>
            </a:r>
            <a:r>
              <a:rPr lang="en-GB" sz="900" b="0" i="0" u="none" strike="noStrike" cap="none" dirty="0">
                <a:solidFill>
                  <a:srgbClr val="7F7F7F"/>
                </a:solidFill>
                <a:latin typeface="Open Sans"/>
                <a:ea typeface="Open Sans"/>
                <a:cs typeface="Open Sans"/>
                <a:sym typeface="Open Sans"/>
              </a:rPr>
              <a:t>sketchbook with:</a:t>
            </a:r>
            <a:endParaRPr sz="900" b="0" i="0" u="none" strike="noStrike" cap="none" dirty="0">
              <a:solidFill>
                <a:srgbClr val="7F7F7F"/>
              </a:solidFill>
              <a:latin typeface="Open Sans"/>
              <a:ea typeface="Open Sans"/>
              <a:cs typeface="Open Sans"/>
              <a:sym typeface="Open Sans"/>
            </a:endParaRPr>
          </a:p>
          <a:p>
            <a:pPr marL="12066" marR="5080" lvl="0" indent="0" algn="l" rtl="0">
              <a:lnSpc>
                <a:spcPct val="100000"/>
              </a:lnSpc>
              <a:spcBef>
                <a:spcPts val="0"/>
              </a:spcBef>
              <a:spcAft>
                <a:spcPts val="0"/>
              </a:spcAft>
              <a:buNone/>
            </a:pPr>
            <a:endParaRPr sz="900" dirty="0">
              <a:solidFill>
                <a:srgbClr val="7F7F7F"/>
              </a:solidFill>
              <a:latin typeface="Open Sans"/>
              <a:ea typeface="Open Sans"/>
              <a:cs typeface="Open Sans"/>
              <a:sym typeface="Open Sans"/>
            </a:endParaRPr>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Initial intentions presentation – with early draft work and practical research into media and techniques</a:t>
            </a:r>
            <a:endParaRPr dirty="0"/>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Outcome presentation</a:t>
            </a:r>
            <a:endParaRPr sz="900" b="0" i="0" u="none" strike="noStrike" cap="none" dirty="0">
              <a:solidFill>
                <a:srgbClr val="7F7F7F"/>
              </a:solidFill>
              <a:latin typeface="Open Sans"/>
              <a:ea typeface="Open Sans"/>
              <a:cs typeface="Open Sans"/>
              <a:sym typeface="Open Sans"/>
            </a:endParaRPr>
          </a:p>
          <a:p>
            <a:pPr marL="12700" marR="5080" lvl="0" indent="-634"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2539"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2539"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p:txBody>
      </p:sp>
      <p:pic>
        <p:nvPicPr>
          <p:cNvPr id="156" name="Google Shape;156;p14"/>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7524924" y="114298"/>
            <a:ext cx="1736521" cy="382087"/>
          </a:xfrm>
          <a:prstGeom prst="rect">
            <a:avLst/>
          </a:prstGeom>
          <a:noFill/>
          <a:ln>
            <a:noFill/>
          </a:ln>
        </p:spPr>
      </p:pic>
      <p:cxnSp>
        <p:nvCxnSpPr>
          <p:cNvPr id="158" name="Google Shape;158;p14"/>
          <p:cNvCxnSpPr/>
          <p:nvPr/>
        </p:nvCxnSpPr>
        <p:spPr>
          <a:xfrm>
            <a:off x="7589775" y="494051"/>
            <a:ext cx="1485799" cy="2334"/>
          </a:xfrm>
          <a:prstGeom prst="straightConnector1">
            <a:avLst/>
          </a:prstGeom>
          <a:noFill/>
          <a:ln w="19050" cap="flat" cmpd="sng">
            <a:solidFill>
              <a:srgbClr val="31859B"/>
            </a:solidFill>
            <a:prstDash val="solid"/>
            <a:round/>
            <a:headEnd type="none" w="sm" len="sm"/>
            <a:tailEnd type="none" w="sm" len="sm"/>
          </a:ln>
        </p:spPr>
      </p:cxnSp>
      <p:sp>
        <p:nvSpPr>
          <p:cNvPr id="8" name="Google Shape;49;p6"/>
          <p:cNvSpPr txBox="1"/>
          <p:nvPr/>
        </p:nvSpPr>
        <p:spPr>
          <a:xfrm>
            <a:off x="6830644" y="468992"/>
            <a:ext cx="2615360"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800" b="1" dirty="0">
                <a:solidFill>
                  <a:srgbClr val="31859B"/>
                </a:solidFill>
                <a:latin typeface="Playfair Display"/>
                <a:ea typeface="Playfair Display"/>
                <a:cs typeface="Playfair Display"/>
                <a:sym typeface="Playfair Display"/>
              </a:rPr>
              <a:t>Progression</a:t>
            </a:r>
            <a:endParaRPr sz="2800" b="1" i="0" u="none" strike="noStrike" cap="none" dirty="0">
              <a:solidFill>
                <a:srgbClr val="31859B"/>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2" name="Picture 1" descr="daniel-maestre-oEPLlct0Yqc-unsplash.jpg"/>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0" y="-1"/>
            <a:ext cx="2981192" cy="5145089"/>
          </a:xfrm>
          <a:prstGeom prst="rect">
            <a:avLst/>
          </a:prstGeom>
        </p:spPr>
      </p:pic>
      <p:sp>
        <p:nvSpPr>
          <p:cNvPr id="9" name="Google Shape;139;p12">
            <a:extLst>
              <a:ext uri="{FF2B5EF4-FFF2-40B4-BE49-F238E27FC236}">
                <a16:creationId xmlns:a16="http://schemas.microsoft.com/office/drawing/2014/main" id="{31BD7251-344C-4881-B70E-8A7C6B364C6A}"/>
              </a:ext>
            </a:extLst>
          </p:cNvPr>
          <p:cNvSpPr txBox="1"/>
          <p:nvPr/>
        </p:nvSpPr>
        <p:spPr>
          <a:xfrm>
            <a:off x="1117109" y="84427"/>
            <a:ext cx="1674900" cy="523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r>
              <a:rPr lang="en-GB" sz="2400" b="1" i="0" u="none" strike="noStrike" cap="none" dirty="0">
                <a:solidFill>
                  <a:srgbClr val="FFFFFF"/>
                </a:solidFill>
                <a:latin typeface="Playfair Display"/>
                <a:ea typeface="Playfair Display"/>
                <a:cs typeface="Playfair Display"/>
                <a:sym typeface="Playfair Display"/>
              </a:rPr>
              <a:t>Guidance</a:t>
            </a:r>
            <a:endParaRPr sz="2400" b="1" i="0" u="none" strike="noStrike" cap="none" dirty="0">
              <a:solidFill>
                <a:srgbClr val="FFFFFF"/>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63"/>
        <p:cNvGrpSpPr/>
        <p:nvPr/>
      </p:nvGrpSpPr>
      <p:grpSpPr>
        <a:xfrm>
          <a:off x="0" y="0"/>
          <a:ext cx="0" cy="0"/>
          <a:chOff x="0" y="0"/>
          <a:chExt cx="0" cy="0"/>
        </a:xfrm>
      </p:grpSpPr>
      <p:pic>
        <p:nvPicPr>
          <p:cNvPr id="2" name="Picture 1" descr="jeff-james-1qkDPh5tfeQ-unsplash.jp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0" y="0"/>
            <a:ext cx="2900418" cy="5160768"/>
          </a:xfrm>
          <a:prstGeom prst="rect">
            <a:avLst/>
          </a:prstGeom>
        </p:spPr>
      </p:pic>
      <p:sp>
        <p:nvSpPr>
          <p:cNvPr id="165" name="Google Shape;165;p15"/>
          <p:cNvSpPr txBox="1"/>
          <p:nvPr/>
        </p:nvSpPr>
        <p:spPr>
          <a:xfrm>
            <a:off x="2956802" y="740462"/>
            <a:ext cx="4184977" cy="3628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000" b="1" i="0" u="none" strike="noStrike" cap="none" dirty="0">
              <a:solidFill>
                <a:srgbClr val="31859B"/>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Professional practice</a:t>
            </a:r>
            <a:endParaRPr dirty="0"/>
          </a:p>
          <a:p>
            <a:pPr marL="12700" marR="5080" lvl="0" indent="-633" algn="l" rtl="0">
              <a:lnSpc>
                <a:spcPct val="100000"/>
              </a:lnSpc>
              <a:spcBef>
                <a:spcPts val="0"/>
              </a:spcBef>
              <a:spcAft>
                <a:spcPts val="0"/>
              </a:spcAft>
              <a:buNone/>
            </a:pPr>
            <a:r>
              <a:rPr lang="en-GB" sz="900" b="0" i="0" u="none" strike="noStrike" cap="none" dirty="0">
                <a:solidFill>
                  <a:srgbClr val="7F7F7F"/>
                </a:solidFill>
                <a:latin typeface="Open Sans"/>
                <a:ea typeface="Open Sans"/>
                <a:cs typeface="Open Sans"/>
                <a:sym typeface="Open Sans"/>
              </a:rPr>
              <a:t>You should apply professional practice when working on the assignment by:</a:t>
            </a:r>
            <a:endParaRPr sz="900" b="0" i="0" u="none" strike="noStrike" cap="none" dirty="0">
              <a:solidFill>
                <a:srgbClr val="7F7F7F"/>
              </a:solidFill>
              <a:latin typeface="Open Sans"/>
              <a:ea typeface="Open Sans"/>
              <a:cs typeface="Open Sans"/>
              <a:sym typeface="Open Sans"/>
            </a:endParaRPr>
          </a:p>
          <a:p>
            <a:pPr marL="12700" marR="5080" lvl="0" indent="-634" algn="l" rtl="0">
              <a:lnSpc>
                <a:spcPct val="100000"/>
              </a:lnSpc>
              <a:spcBef>
                <a:spcPts val="0"/>
              </a:spcBef>
              <a:spcAft>
                <a:spcPts val="0"/>
              </a:spcAft>
              <a:buNone/>
            </a:pPr>
            <a:endParaRPr sz="900" dirty="0">
              <a:solidFill>
                <a:srgbClr val="7F7F7F"/>
              </a:solidFill>
              <a:latin typeface="Open Sans"/>
              <a:ea typeface="Open Sans"/>
              <a:cs typeface="Open Sans"/>
              <a:sym typeface="Open Sans"/>
            </a:endParaRPr>
          </a:p>
          <a:p>
            <a:pPr marL="183516" marR="5080" indent="-171450">
              <a:buSzPts val="900"/>
              <a:buFont typeface="Arial"/>
              <a:buChar char="•"/>
            </a:pPr>
            <a:r>
              <a:rPr lang="en-GB" sz="900" b="0" i="0" u="none" strike="noStrike" cap="none" dirty="0">
                <a:solidFill>
                  <a:srgbClr val="7F7F7F"/>
                </a:solidFill>
                <a:latin typeface="Open Sans"/>
                <a:ea typeface="Open Sans"/>
                <a:cs typeface="Open Sans"/>
                <a:sym typeface="Open Sans"/>
              </a:rPr>
              <a:t>Identifying and using best practice associated with </a:t>
            </a:r>
            <a:r>
              <a:rPr lang="en-GB" sz="900" dirty="0">
                <a:solidFill>
                  <a:srgbClr val="7F7F7F"/>
                </a:solidFill>
                <a:latin typeface="Open Sans"/>
                <a:ea typeface="Open Sans"/>
                <a:cs typeface="Open Sans"/>
                <a:sym typeface="Open Sans"/>
              </a:rPr>
              <a:t>online personal brand identity </a:t>
            </a:r>
            <a:endParaRPr sz="900" b="0" i="0" u="none" strike="noStrike" cap="none" dirty="0">
              <a:solidFill>
                <a:srgbClr val="7F7F7F"/>
              </a:solidFill>
              <a:latin typeface="Open Sans"/>
              <a:ea typeface="Open Sans"/>
              <a:cs typeface="Open Sans"/>
              <a:sym typeface="Open Sans"/>
            </a:endParaRPr>
          </a:p>
          <a:p>
            <a:pPr marL="914400" marR="5080" lvl="1" indent="-285750" algn="l" rtl="0">
              <a:lnSpc>
                <a:spcPct val="100000"/>
              </a:lnSpc>
              <a:spcBef>
                <a:spcPts val="0"/>
              </a:spcBef>
              <a:spcAft>
                <a:spcPts val="0"/>
              </a:spcAft>
              <a:buClr>
                <a:srgbClr val="7F7F7F"/>
              </a:buClr>
              <a:buSzPts val="900"/>
              <a:buFont typeface="Open Sans"/>
              <a:buChar char="○"/>
            </a:pPr>
            <a:r>
              <a:rPr lang="en-GB" sz="900" dirty="0">
                <a:solidFill>
                  <a:srgbClr val="7F7F7F"/>
                </a:solidFill>
                <a:latin typeface="Open Sans"/>
                <a:ea typeface="Open Sans"/>
                <a:cs typeface="Open Sans"/>
                <a:sym typeface="Open Sans"/>
              </a:rPr>
              <a:t>consider and test what others do in industry</a:t>
            </a:r>
            <a:endParaRPr sz="900" dirty="0">
              <a:solidFill>
                <a:srgbClr val="7F7F7F"/>
              </a:solidFill>
              <a:latin typeface="Open Sans"/>
              <a:ea typeface="Open Sans"/>
              <a:cs typeface="Open Sans"/>
              <a:sym typeface="Open Sans"/>
            </a:endParaRPr>
          </a:p>
          <a:p>
            <a:pPr marL="914400" marR="5080" lvl="1" indent="-285750" algn="l" rtl="0">
              <a:lnSpc>
                <a:spcPct val="100000"/>
              </a:lnSpc>
              <a:spcBef>
                <a:spcPts val="0"/>
              </a:spcBef>
              <a:spcAft>
                <a:spcPts val="0"/>
              </a:spcAft>
              <a:buClr>
                <a:srgbClr val="7F7F7F"/>
              </a:buClr>
              <a:buSzPts val="900"/>
              <a:buFont typeface="Open Sans"/>
              <a:buChar char="○"/>
            </a:pPr>
            <a:r>
              <a:rPr lang="en-GB" sz="900" dirty="0">
                <a:solidFill>
                  <a:srgbClr val="7F7F7F"/>
                </a:solidFill>
                <a:latin typeface="Open Sans"/>
                <a:ea typeface="Open Sans"/>
                <a:cs typeface="Open Sans"/>
                <a:sym typeface="Open Sans"/>
              </a:rPr>
              <a:t>keep things safe and manage risks.</a:t>
            </a:r>
            <a:endParaRPr sz="900" dirty="0">
              <a:solidFill>
                <a:srgbClr val="7F7F7F"/>
              </a:solidFill>
              <a:latin typeface="Open Sans"/>
              <a:ea typeface="Open Sans"/>
              <a:cs typeface="Open Sans"/>
              <a:sym typeface="Open Sans"/>
            </a:endParaRPr>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Applying project management:</a:t>
            </a:r>
            <a:endParaRPr sz="900" b="0" i="0" u="none" strike="noStrike" cap="none" dirty="0">
              <a:solidFill>
                <a:srgbClr val="7F7F7F"/>
              </a:solidFill>
              <a:latin typeface="Open Sans"/>
              <a:ea typeface="Open Sans"/>
              <a:cs typeface="Open Sans"/>
              <a:sym typeface="Open Sans"/>
            </a:endParaRPr>
          </a:p>
          <a:p>
            <a:pPr marL="914400" marR="5080" lvl="1" indent="-285750" algn="l" rtl="0">
              <a:lnSpc>
                <a:spcPct val="100000"/>
              </a:lnSpc>
              <a:spcBef>
                <a:spcPts val="0"/>
              </a:spcBef>
              <a:spcAft>
                <a:spcPts val="0"/>
              </a:spcAft>
              <a:buClr>
                <a:srgbClr val="7F7F7F"/>
              </a:buClr>
              <a:buSzPts val="900"/>
              <a:buFont typeface="Open Sans"/>
              <a:buChar char="○"/>
            </a:pPr>
            <a:r>
              <a:rPr lang="en-US" sz="900" dirty="0">
                <a:solidFill>
                  <a:srgbClr val="7F7F7F"/>
                </a:solidFill>
                <a:latin typeface="Open Sans"/>
                <a:ea typeface="Open Sans"/>
                <a:cs typeface="Open Sans"/>
                <a:sym typeface="Open Sans"/>
              </a:rPr>
              <a:t>s</a:t>
            </a:r>
            <a:r>
              <a:rPr lang="en-GB" sz="900" dirty="0" err="1">
                <a:solidFill>
                  <a:srgbClr val="7F7F7F"/>
                </a:solidFill>
                <a:latin typeface="Open Sans"/>
                <a:ea typeface="Open Sans"/>
                <a:cs typeface="Open Sans"/>
                <a:sym typeface="Open Sans"/>
              </a:rPr>
              <a:t>etting</a:t>
            </a:r>
            <a:r>
              <a:rPr lang="en-GB" sz="900" dirty="0">
                <a:solidFill>
                  <a:srgbClr val="7F7F7F"/>
                </a:solidFill>
                <a:latin typeface="Open Sans"/>
                <a:ea typeface="Open Sans"/>
                <a:cs typeface="Open Sans"/>
                <a:sym typeface="Open Sans"/>
              </a:rPr>
              <a:t> priorities</a:t>
            </a:r>
          </a:p>
          <a:p>
            <a:pPr marL="914400" marR="5080" lvl="1" indent="-285750" algn="l" rtl="0">
              <a:lnSpc>
                <a:spcPct val="100000"/>
              </a:lnSpc>
              <a:spcBef>
                <a:spcPts val="0"/>
              </a:spcBef>
              <a:spcAft>
                <a:spcPts val="0"/>
              </a:spcAft>
              <a:buClr>
                <a:srgbClr val="7F7F7F"/>
              </a:buClr>
              <a:buSzPts val="900"/>
              <a:buFont typeface="Open Sans"/>
              <a:buChar char="○"/>
            </a:pPr>
            <a:r>
              <a:rPr lang="en-GB" sz="900" dirty="0">
                <a:solidFill>
                  <a:srgbClr val="7F7F7F"/>
                </a:solidFill>
                <a:latin typeface="Open Sans"/>
                <a:ea typeface="Open Sans"/>
                <a:cs typeface="Open Sans"/>
                <a:sym typeface="Open Sans"/>
              </a:rPr>
              <a:t>breaking up the assignment into manageable parts</a:t>
            </a:r>
            <a:endParaRPr sz="900" dirty="0">
              <a:solidFill>
                <a:srgbClr val="7F7F7F"/>
              </a:solidFill>
              <a:latin typeface="Open Sans"/>
              <a:ea typeface="Open Sans"/>
              <a:cs typeface="Open Sans"/>
              <a:sym typeface="Open Sans"/>
            </a:endParaRPr>
          </a:p>
          <a:p>
            <a:pPr marL="914400" marR="5080" lvl="1" indent="-285750" algn="l" rtl="0">
              <a:lnSpc>
                <a:spcPct val="100000"/>
              </a:lnSpc>
              <a:spcBef>
                <a:spcPts val="0"/>
              </a:spcBef>
              <a:spcAft>
                <a:spcPts val="0"/>
              </a:spcAft>
              <a:buClr>
                <a:srgbClr val="7F7F7F"/>
              </a:buClr>
              <a:buSzPts val="900"/>
              <a:buFont typeface="Open Sans"/>
              <a:buChar char="○"/>
            </a:pPr>
            <a:r>
              <a:rPr lang="en-GB" sz="900" dirty="0">
                <a:solidFill>
                  <a:srgbClr val="7F7F7F"/>
                </a:solidFill>
                <a:latin typeface="Open Sans"/>
                <a:ea typeface="Open Sans"/>
                <a:cs typeface="Open Sans"/>
                <a:sym typeface="Open Sans"/>
              </a:rPr>
              <a:t>exploring ways of working efficiently.</a:t>
            </a:r>
            <a:endParaRPr sz="900" dirty="0">
              <a:solidFill>
                <a:srgbClr val="7F7F7F"/>
              </a:solidFill>
              <a:latin typeface="Open Sans"/>
              <a:ea typeface="Open Sans"/>
              <a:cs typeface="Open Sans"/>
              <a:sym typeface="Open Sans"/>
            </a:endParaRPr>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Setting actions and targets for meeting the brief:</a:t>
            </a:r>
            <a:endParaRPr sz="900" b="0" i="0" u="none" strike="noStrike" cap="none" dirty="0">
              <a:solidFill>
                <a:srgbClr val="7F7F7F"/>
              </a:solidFill>
              <a:latin typeface="Open Sans"/>
              <a:ea typeface="Open Sans"/>
              <a:cs typeface="Open Sans"/>
              <a:sym typeface="Open Sans"/>
            </a:endParaRPr>
          </a:p>
          <a:p>
            <a:pPr marL="914400" marR="5080" lvl="1" indent="-285750" algn="l" rtl="0">
              <a:lnSpc>
                <a:spcPct val="100000"/>
              </a:lnSpc>
              <a:spcBef>
                <a:spcPts val="0"/>
              </a:spcBef>
              <a:spcAft>
                <a:spcPts val="0"/>
              </a:spcAft>
              <a:buClr>
                <a:srgbClr val="7F7F7F"/>
              </a:buClr>
              <a:buSzPts val="900"/>
              <a:buFont typeface="Open Sans"/>
              <a:buChar char="○"/>
            </a:pPr>
            <a:r>
              <a:rPr lang="en-US" sz="900" dirty="0">
                <a:solidFill>
                  <a:srgbClr val="7F7F7F"/>
                </a:solidFill>
                <a:latin typeface="Open Sans"/>
                <a:ea typeface="Open Sans"/>
                <a:cs typeface="Open Sans"/>
                <a:sym typeface="Open Sans"/>
              </a:rPr>
              <a:t>o</a:t>
            </a:r>
            <a:r>
              <a:rPr lang="en-GB" sz="900" dirty="0" err="1">
                <a:solidFill>
                  <a:srgbClr val="7F7F7F"/>
                </a:solidFill>
                <a:latin typeface="Open Sans"/>
                <a:ea typeface="Open Sans"/>
                <a:cs typeface="Open Sans"/>
                <a:sym typeface="Open Sans"/>
              </a:rPr>
              <a:t>rganising</a:t>
            </a:r>
            <a:r>
              <a:rPr lang="en-GB" sz="900" dirty="0">
                <a:solidFill>
                  <a:srgbClr val="7F7F7F"/>
                </a:solidFill>
                <a:latin typeface="Open Sans"/>
                <a:ea typeface="Open Sans"/>
                <a:cs typeface="Open Sans"/>
                <a:sym typeface="Open Sans"/>
              </a:rPr>
              <a:t> materials and  resources</a:t>
            </a:r>
            <a:endParaRPr sz="900" dirty="0">
              <a:solidFill>
                <a:srgbClr val="7F7F7F"/>
              </a:solidFill>
              <a:latin typeface="Open Sans"/>
              <a:ea typeface="Open Sans"/>
              <a:cs typeface="Open Sans"/>
              <a:sym typeface="Open Sans"/>
            </a:endParaRPr>
          </a:p>
          <a:p>
            <a:pPr marL="914400" marR="5080" lvl="1" indent="-285750">
              <a:buClr>
                <a:srgbClr val="7F7F7F"/>
              </a:buClr>
              <a:buSzPts val="900"/>
              <a:buFont typeface="Open Sans"/>
              <a:buChar char="○"/>
            </a:pPr>
            <a:r>
              <a:rPr lang="en-US" sz="900" dirty="0">
                <a:solidFill>
                  <a:srgbClr val="7F7F7F"/>
                </a:solidFill>
                <a:latin typeface="Open Sans"/>
                <a:ea typeface="Open Sans"/>
                <a:cs typeface="Open Sans"/>
                <a:sym typeface="Open Sans"/>
              </a:rPr>
              <a:t>responding in a timely fashion and meeting set deadlines.</a:t>
            </a:r>
            <a:r>
              <a:rPr lang="en-GB" sz="900" dirty="0">
                <a:solidFill>
                  <a:srgbClr val="7F7F7F"/>
                </a:solidFill>
                <a:latin typeface="Open Sans"/>
                <a:ea typeface="Open Sans"/>
                <a:cs typeface="Open Sans"/>
                <a:sym typeface="Open Sans"/>
              </a:rPr>
              <a:t>.</a:t>
            </a:r>
            <a:endParaRPr dirty="0"/>
          </a:p>
          <a:p>
            <a:pPr marL="177800" marR="5080" indent="-177800">
              <a:buSzPts val="900"/>
              <a:buFont typeface="Arial"/>
              <a:buChar char="•"/>
            </a:pPr>
            <a:r>
              <a:rPr lang="en-US" sz="900" dirty="0">
                <a:solidFill>
                  <a:srgbClr val="7F7F7F"/>
                </a:solidFill>
                <a:latin typeface="Open Sans"/>
                <a:ea typeface="Open Sans"/>
                <a:cs typeface="Open Sans"/>
                <a:sym typeface="Open Sans"/>
              </a:rPr>
              <a:t>Addressing interviewers </a:t>
            </a:r>
            <a:r>
              <a:rPr lang="en-US" sz="900" dirty="0" err="1">
                <a:solidFill>
                  <a:srgbClr val="7F7F7F"/>
                </a:solidFill>
                <a:latin typeface="Open Sans"/>
                <a:ea typeface="Open Sans"/>
                <a:cs typeface="Open Sans"/>
                <a:sym typeface="Open Sans"/>
              </a:rPr>
              <a:t>appropriatel</a:t>
            </a:r>
            <a:r>
              <a:rPr lang="en-US" sz="900" dirty="0">
                <a:solidFill>
                  <a:srgbClr val="7F7F7F"/>
                </a:solidFill>
                <a:latin typeface="Open Sans"/>
                <a:ea typeface="Open Sans"/>
                <a:cs typeface="Open Sans"/>
                <a:sym typeface="Open Sans"/>
              </a:rPr>
              <a:t>:</a:t>
            </a:r>
          </a:p>
          <a:p>
            <a:pPr marL="896938" marR="5080" lvl="3" indent="-266700">
              <a:buSzPts val="900"/>
              <a:buFont typeface="Courier New"/>
              <a:buChar char="o"/>
            </a:pPr>
            <a:r>
              <a:rPr lang="en-US" sz="900" dirty="0">
                <a:solidFill>
                  <a:srgbClr val="7F7F7F"/>
                </a:solidFill>
                <a:latin typeface="Open Sans"/>
                <a:ea typeface="Open Sans"/>
                <a:cs typeface="Open Sans"/>
                <a:sym typeface="Open Sans"/>
              </a:rPr>
              <a:t>timeliness</a:t>
            </a:r>
          </a:p>
          <a:p>
            <a:pPr marL="896938" marR="5080" lvl="3" indent="-266700">
              <a:buSzPts val="900"/>
              <a:buFont typeface="Courier New"/>
              <a:buChar char="o"/>
            </a:pPr>
            <a:r>
              <a:rPr lang="en-US" sz="900" dirty="0">
                <a:solidFill>
                  <a:srgbClr val="7F7F7F"/>
                </a:solidFill>
                <a:latin typeface="Open Sans"/>
                <a:ea typeface="Open Sans"/>
                <a:cs typeface="Open Sans"/>
                <a:sym typeface="Open Sans"/>
              </a:rPr>
              <a:t>positive body language</a:t>
            </a:r>
          </a:p>
          <a:p>
            <a:pPr marL="896938" marR="5080" lvl="3" indent="-266700">
              <a:buSzPts val="900"/>
              <a:buFont typeface="Courier New"/>
              <a:buChar char="o"/>
            </a:pPr>
            <a:r>
              <a:rPr lang="en-US" sz="900" dirty="0">
                <a:solidFill>
                  <a:srgbClr val="7F7F7F"/>
                </a:solidFill>
                <a:latin typeface="Open Sans"/>
                <a:ea typeface="Open Sans"/>
                <a:cs typeface="Open Sans"/>
                <a:sym typeface="Open Sans"/>
              </a:rPr>
              <a:t>use of technical language </a:t>
            </a:r>
          </a:p>
          <a:p>
            <a:pPr marL="896938" marR="5080" lvl="3" indent="-266700">
              <a:buSzPts val="900"/>
              <a:buFont typeface="Courier New"/>
              <a:buChar char="o"/>
            </a:pPr>
            <a:r>
              <a:rPr lang="en-US" sz="900" dirty="0">
                <a:solidFill>
                  <a:srgbClr val="7F7F7F"/>
                </a:solidFill>
                <a:latin typeface="Open Sans"/>
                <a:ea typeface="Open Sans"/>
                <a:cs typeface="Open Sans"/>
                <a:sym typeface="Open Sans"/>
              </a:rPr>
              <a:t>appropriate dress code </a:t>
            </a:r>
          </a:p>
          <a:p>
            <a:pPr marL="896938" marR="5080" lvl="3" indent="-266700">
              <a:buSzPts val="900"/>
              <a:buFont typeface="Courier New"/>
              <a:buChar char="o"/>
            </a:pPr>
            <a:endParaRPr sz="900" b="0" i="0" u="none" strike="noStrike" cap="none" dirty="0">
              <a:solidFill>
                <a:srgbClr val="7F7F7F"/>
              </a:solidFill>
              <a:latin typeface="Open Sans"/>
              <a:ea typeface="Open Sans"/>
              <a:cs typeface="Open Sans"/>
              <a:sym typeface="Open Sans"/>
            </a:endParaRPr>
          </a:p>
          <a:p>
            <a:pPr marL="12700" marR="5080" lvl="0" indent="-634" algn="l" rtl="0">
              <a:lnSpc>
                <a:spcPct val="100000"/>
              </a:lnSpc>
              <a:spcBef>
                <a:spcPts val="0"/>
              </a:spcBef>
              <a:spcAft>
                <a:spcPts val="0"/>
              </a:spcAft>
              <a:buNone/>
            </a:pPr>
            <a:r>
              <a:rPr lang="en-GB" sz="900" b="1" dirty="0">
                <a:solidFill>
                  <a:srgbClr val="31859B"/>
                </a:solidFill>
                <a:latin typeface="Playfair Display"/>
                <a:ea typeface="Playfair Display"/>
                <a:cs typeface="Playfair Display"/>
                <a:sym typeface="Playfair Display"/>
              </a:rPr>
              <a:t>Evidence could include</a:t>
            </a:r>
            <a:r>
              <a:rPr lang="en-GB" sz="900" b="1" i="0" u="none" strike="noStrike" cap="none" dirty="0">
                <a:solidFill>
                  <a:srgbClr val="31859B"/>
                </a:solidFill>
                <a:latin typeface="Playfair Display"/>
                <a:ea typeface="Playfair Display"/>
                <a:cs typeface="Playfair Display"/>
                <a:sym typeface="Playfair Display"/>
              </a:rPr>
              <a:t>:</a:t>
            </a:r>
            <a:endParaRPr sz="900" b="0" i="0" u="none" strike="noStrike" cap="none" dirty="0">
              <a:solidFill>
                <a:srgbClr val="7F7F7F"/>
              </a:solidFill>
              <a:latin typeface="Open Sans"/>
              <a:ea typeface="Open Sans"/>
              <a:cs typeface="Open Sans"/>
              <a:sym typeface="Open Sans"/>
            </a:endParaRPr>
          </a:p>
          <a:p>
            <a:pPr marL="12066" marR="5080" lvl="0" indent="0" algn="l" rtl="0">
              <a:lnSpc>
                <a:spcPct val="100000"/>
              </a:lnSpc>
              <a:spcBef>
                <a:spcPts val="0"/>
              </a:spcBef>
              <a:spcAft>
                <a:spcPts val="0"/>
              </a:spcAft>
              <a:buNone/>
            </a:pPr>
            <a:r>
              <a:rPr lang="en-GB" sz="900" b="0" i="0" u="none" strike="noStrike" cap="none" dirty="0">
                <a:solidFill>
                  <a:srgbClr val="7F7F7F"/>
                </a:solidFill>
                <a:latin typeface="Open Sans"/>
                <a:ea typeface="Open Sans"/>
                <a:cs typeface="Open Sans"/>
                <a:sym typeface="Open Sans"/>
              </a:rPr>
              <a:t>Blog</a:t>
            </a:r>
            <a:r>
              <a:rPr lang="en-GB" sz="900" dirty="0">
                <a:solidFill>
                  <a:srgbClr val="7F7F7F"/>
                </a:solidFill>
                <a:latin typeface="Open Sans"/>
                <a:ea typeface="Open Sans"/>
                <a:cs typeface="Open Sans"/>
                <a:sym typeface="Open Sans"/>
              </a:rPr>
              <a:t>, digital portfolio and/or</a:t>
            </a:r>
            <a:r>
              <a:rPr lang="en-GB" sz="900" b="0" i="0" u="none" strike="noStrike" cap="none" dirty="0">
                <a:solidFill>
                  <a:srgbClr val="7F7F7F"/>
                </a:solidFill>
                <a:latin typeface="Open Sans"/>
                <a:ea typeface="Open Sans"/>
                <a:cs typeface="Open Sans"/>
                <a:sym typeface="Open Sans"/>
              </a:rPr>
              <a:t> sketchbook with:</a:t>
            </a:r>
            <a:endParaRPr sz="900" b="0" i="0" u="none" strike="noStrike" cap="none" dirty="0">
              <a:solidFill>
                <a:srgbClr val="7F7F7F"/>
              </a:solidFill>
              <a:latin typeface="Open Sans"/>
              <a:ea typeface="Open Sans"/>
              <a:cs typeface="Open Sans"/>
              <a:sym typeface="Open Sans"/>
            </a:endParaRPr>
          </a:p>
          <a:p>
            <a:pPr marL="12066" marR="5080" lvl="0" indent="0" algn="l" rtl="0">
              <a:lnSpc>
                <a:spcPct val="100000"/>
              </a:lnSpc>
              <a:spcBef>
                <a:spcPts val="0"/>
              </a:spcBef>
              <a:spcAft>
                <a:spcPts val="0"/>
              </a:spcAft>
              <a:buNone/>
            </a:pPr>
            <a:endParaRPr sz="900" dirty="0">
              <a:solidFill>
                <a:srgbClr val="7F7F7F"/>
              </a:solidFill>
              <a:latin typeface="Open Sans"/>
              <a:ea typeface="Open Sans"/>
              <a:cs typeface="Open Sans"/>
              <a:sym typeface="Open Sans"/>
            </a:endParaRPr>
          </a:p>
          <a:p>
            <a:pPr marL="183516" marR="5080" indent="-171450">
              <a:buSzPts val="900"/>
              <a:buFont typeface="Arial"/>
              <a:buChar char="•"/>
            </a:pPr>
            <a:r>
              <a:rPr lang="en-GB" sz="900" dirty="0">
                <a:solidFill>
                  <a:srgbClr val="7F7F7F"/>
                </a:solidFill>
                <a:latin typeface="Open Sans"/>
                <a:ea typeface="Open Sans"/>
                <a:cs typeface="Open Sans"/>
                <a:sym typeface="Open Sans"/>
              </a:rPr>
              <a:t>Presentation of</a:t>
            </a:r>
            <a:r>
              <a:rPr lang="en-GB" sz="900" b="0" i="0" u="none" strike="noStrike" cap="none" dirty="0">
                <a:solidFill>
                  <a:srgbClr val="7F7F7F"/>
                </a:solidFill>
                <a:latin typeface="Open Sans"/>
                <a:ea typeface="Open Sans"/>
                <a:cs typeface="Open Sans"/>
                <a:sym typeface="Open Sans"/>
              </a:rPr>
              <a:t> </a:t>
            </a:r>
            <a:r>
              <a:rPr lang="en-GB" sz="900" dirty="0">
                <a:solidFill>
                  <a:srgbClr val="7F7F7F"/>
                </a:solidFill>
                <a:latin typeface="Open Sans"/>
                <a:ea typeface="Open Sans"/>
                <a:cs typeface="Open Sans"/>
                <a:sym typeface="Open Sans"/>
              </a:rPr>
              <a:t>online personal brand identity </a:t>
            </a:r>
          </a:p>
          <a:p>
            <a:pPr marL="183516" marR="5080" indent="-171450">
              <a:buSzPts val="900"/>
              <a:buFont typeface="Arial"/>
              <a:buChar char="•"/>
            </a:pPr>
            <a:r>
              <a:rPr lang="en-GB" sz="900" dirty="0">
                <a:solidFill>
                  <a:srgbClr val="7F7F7F"/>
                </a:solidFill>
                <a:latin typeface="Open Sans"/>
                <a:ea typeface="Open Sans"/>
                <a:cs typeface="Open Sans"/>
                <a:sym typeface="Open Sans"/>
              </a:rPr>
              <a:t>Recording of mock interview</a:t>
            </a:r>
            <a:endParaRPr dirty="0"/>
          </a:p>
          <a:p>
            <a:pPr marL="183516" marR="5080" lvl="0" indent="-171450" algn="l" rtl="0">
              <a:lnSpc>
                <a:spcPct val="100000"/>
              </a:lnSpc>
              <a:spcBef>
                <a:spcPts val="0"/>
              </a:spcBef>
              <a:spcAft>
                <a:spcPts val="0"/>
              </a:spcAft>
              <a:buClr>
                <a:srgbClr val="000000"/>
              </a:buClr>
              <a:buSzPts val="900"/>
              <a:buFont typeface="Arial"/>
              <a:buChar char="•"/>
            </a:pPr>
            <a:r>
              <a:rPr lang="en-GB" sz="900" dirty="0">
                <a:solidFill>
                  <a:srgbClr val="7F7F7F"/>
                </a:solidFill>
                <a:latin typeface="Open Sans"/>
                <a:ea typeface="Open Sans"/>
                <a:cs typeface="Open Sans"/>
                <a:sym typeface="Open Sans"/>
              </a:rPr>
              <a:t>O</a:t>
            </a:r>
            <a:r>
              <a:rPr lang="en-GB" sz="900" b="0" i="0" u="none" strike="noStrike" cap="none" dirty="0">
                <a:solidFill>
                  <a:srgbClr val="7F7F7F"/>
                </a:solidFill>
                <a:latin typeface="Open Sans"/>
                <a:ea typeface="Open Sans"/>
                <a:cs typeface="Open Sans"/>
                <a:sym typeface="Open Sans"/>
              </a:rPr>
              <a:t>utcome(s) that show an understanding of </a:t>
            </a:r>
            <a:r>
              <a:rPr lang="en-GB" sz="900" dirty="0">
                <a:solidFill>
                  <a:srgbClr val="7F7F7F"/>
                </a:solidFill>
                <a:latin typeface="Open Sans"/>
                <a:ea typeface="Open Sans"/>
                <a:cs typeface="Open Sans"/>
                <a:sym typeface="Open Sans"/>
              </a:rPr>
              <a:t>related </a:t>
            </a:r>
            <a:r>
              <a:rPr lang="en-GB" sz="900" b="0" i="0" u="none" strike="noStrike" cap="none" dirty="0">
                <a:solidFill>
                  <a:srgbClr val="7F7F7F"/>
                </a:solidFill>
                <a:latin typeface="Open Sans"/>
                <a:ea typeface="Open Sans"/>
                <a:cs typeface="Open Sans"/>
                <a:sym typeface="Open Sans"/>
              </a:rPr>
              <a:t>professional practices</a:t>
            </a:r>
            <a:endParaRPr sz="900" b="0" i="0" u="none" strike="noStrike" cap="none" dirty="0">
              <a:solidFill>
                <a:srgbClr val="7F7F7F"/>
              </a:solidFill>
              <a:latin typeface="Open Sans"/>
              <a:ea typeface="Open Sans"/>
              <a:cs typeface="Open Sans"/>
              <a:sym typeface="Open Sans"/>
            </a:endParaRPr>
          </a:p>
          <a:p>
            <a:pPr marL="12700" marR="5080" lvl="0" indent="-634"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2539"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2539"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p:txBody>
      </p:sp>
      <p:pic>
        <p:nvPicPr>
          <p:cNvPr id="166" name="Google Shape;166;p15"/>
          <p:cNvPicPr preferRelativeResize="0"/>
          <p:nvPr/>
        </p:nvPicPr>
        <p:blipFill rotWithShape="1">
          <a:blip r:embed="rId4" cstate="print">
            <a:alphaModFix/>
            <a:extLst>
              <a:ext uri="{28A0092B-C50C-407E-A947-70E740481C1C}">
                <a14:useLocalDpi xmlns:a14="http://schemas.microsoft.com/office/drawing/2010/main"/>
              </a:ext>
            </a:extLst>
          </a:blip>
          <a:srcRect/>
          <a:stretch/>
        </p:blipFill>
        <p:spPr>
          <a:xfrm>
            <a:off x="7524924" y="114298"/>
            <a:ext cx="1736521" cy="382087"/>
          </a:xfrm>
          <a:prstGeom prst="rect">
            <a:avLst/>
          </a:prstGeom>
          <a:noFill/>
          <a:ln>
            <a:noFill/>
          </a:ln>
        </p:spPr>
      </p:pic>
      <p:cxnSp>
        <p:nvCxnSpPr>
          <p:cNvPr id="168" name="Google Shape;168;p15"/>
          <p:cNvCxnSpPr/>
          <p:nvPr/>
        </p:nvCxnSpPr>
        <p:spPr>
          <a:xfrm>
            <a:off x="7589775" y="494051"/>
            <a:ext cx="1485799" cy="2334"/>
          </a:xfrm>
          <a:prstGeom prst="straightConnector1">
            <a:avLst/>
          </a:prstGeom>
          <a:noFill/>
          <a:ln w="19050" cap="flat" cmpd="sng">
            <a:solidFill>
              <a:srgbClr val="31859B"/>
            </a:solidFill>
            <a:prstDash val="solid"/>
            <a:round/>
            <a:headEnd type="none" w="sm" len="sm"/>
            <a:tailEnd type="none" w="sm" len="sm"/>
          </a:ln>
        </p:spPr>
      </p:cxnSp>
      <p:sp>
        <p:nvSpPr>
          <p:cNvPr id="8" name="Google Shape;49;p6"/>
          <p:cNvSpPr txBox="1"/>
          <p:nvPr/>
        </p:nvSpPr>
        <p:spPr>
          <a:xfrm>
            <a:off x="6830644" y="468992"/>
            <a:ext cx="2615360"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800" b="1" dirty="0">
                <a:solidFill>
                  <a:srgbClr val="31859B"/>
                </a:solidFill>
                <a:latin typeface="Playfair Display"/>
                <a:ea typeface="Playfair Display"/>
                <a:cs typeface="Playfair Display"/>
                <a:sym typeface="Playfair Display"/>
              </a:rPr>
              <a:t>Progression</a:t>
            </a:r>
            <a:endParaRPr sz="2800" b="1" i="0" u="none" strike="noStrike" cap="none" dirty="0">
              <a:solidFill>
                <a:srgbClr val="31859B"/>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 name="Google Shape;139;p12">
            <a:extLst>
              <a:ext uri="{FF2B5EF4-FFF2-40B4-BE49-F238E27FC236}">
                <a16:creationId xmlns:a16="http://schemas.microsoft.com/office/drawing/2014/main" id="{08857C3D-2A06-4D55-9485-26A0B0EE3987}"/>
              </a:ext>
            </a:extLst>
          </p:cNvPr>
          <p:cNvSpPr txBox="1"/>
          <p:nvPr/>
        </p:nvSpPr>
        <p:spPr>
          <a:xfrm>
            <a:off x="1117109" y="84427"/>
            <a:ext cx="1674900" cy="523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r>
              <a:rPr lang="en-GB" sz="2400" b="1" i="0" u="none" strike="noStrike" cap="none" dirty="0">
                <a:solidFill>
                  <a:srgbClr val="FFFFFF"/>
                </a:solidFill>
                <a:latin typeface="Playfair Display"/>
                <a:ea typeface="Playfair Display"/>
                <a:cs typeface="Playfair Display"/>
                <a:sym typeface="Playfair Display"/>
              </a:rPr>
              <a:t>Guidance</a:t>
            </a:r>
            <a:endParaRPr sz="2400" b="1" i="0" u="none" strike="noStrike" cap="none" dirty="0">
              <a:solidFill>
                <a:srgbClr val="FFFFFF"/>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73"/>
        <p:cNvGrpSpPr/>
        <p:nvPr/>
      </p:nvGrpSpPr>
      <p:grpSpPr>
        <a:xfrm>
          <a:off x="0" y="0"/>
          <a:ext cx="0" cy="0"/>
          <a:chOff x="0" y="0"/>
          <a:chExt cx="0" cy="0"/>
        </a:xfrm>
      </p:grpSpPr>
      <p:pic>
        <p:nvPicPr>
          <p:cNvPr id="2" name="Picture 1" descr="josh-hild-qxpWhzt2fVA-unsplash.jp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0" y="1"/>
            <a:ext cx="2916046" cy="5145088"/>
          </a:xfrm>
          <a:prstGeom prst="rect">
            <a:avLst/>
          </a:prstGeom>
        </p:spPr>
      </p:pic>
      <p:sp>
        <p:nvSpPr>
          <p:cNvPr id="175" name="Google Shape;175;p16"/>
          <p:cNvSpPr txBox="1"/>
          <p:nvPr/>
        </p:nvSpPr>
        <p:spPr>
          <a:xfrm>
            <a:off x="2956802" y="740462"/>
            <a:ext cx="4184977" cy="337015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000" b="1" i="0" u="none" strike="noStrike" cap="none" dirty="0">
              <a:solidFill>
                <a:srgbClr val="31859B"/>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r>
              <a:rPr lang="en-GB" sz="1400" b="1" i="0" u="none" strike="noStrike" cap="none" dirty="0">
                <a:solidFill>
                  <a:srgbClr val="31859B"/>
                </a:solidFill>
                <a:latin typeface="Playfair Display"/>
                <a:ea typeface="Playfair Display"/>
                <a:cs typeface="Playfair Display"/>
                <a:sym typeface="Playfair Display"/>
              </a:rPr>
              <a:t>Communication</a:t>
            </a:r>
            <a:endParaRPr dirty="0"/>
          </a:p>
          <a:p>
            <a:pPr marL="12700" marR="5080" lvl="0" indent="-633" algn="l" rtl="0">
              <a:lnSpc>
                <a:spcPct val="100000"/>
              </a:lnSpc>
              <a:spcBef>
                <a:spcPts val="0"/>
              </a:spcBef>
              <a:spcAft>
                <a:spcPts val="0"/>
              </a:spcAft>
              <a:buNone/>
            </a:pPr>
            <a:r>
              <a:rPr lang="en-GB" sz="900" b="0" i="0" u="none" strike="noStrike" cap="none" dirty="0">
                <a:solidFill>
                  <a:srgbClr val="7F7F7F"/>
                </a:solidFill>
                <a:latin typeface="Open Sans"/>
                <a:ea typeface="Open Sans"/>
                <a:cs typeface="Open Sans"/>
                <a:sym typeface="Open Sans"/>
              </a:rPr>
              <a:t>You should use communication skills throughout the project by:</a:t>
            </a:r>
            <a:endParaRPr sz="900" b="0" i="0" u="none" strike="noStrike" cap="none" dirty="0">
              <a:solidFill>
                <a:srgbClr val="7F7F7F"/>
              </a:solidFill>
              <a:latin typeface="Open Sans"/>
              <a:ea typeface="Open Sans"/>
              <a:cs typeface="Open Sans"/>
              <a:sym typeface="Open Sans"/>
            </a:endParaRPr>
          </a:p>
          <a:p>
            <a:pPr marL="12700" marR="5080" lvl="0" indent="-634" algn="l" rtl="0">
              <a:lnSpc>
                <a:spcPct val="100000"/>
              </a:lnSpc>
              <a:spcBef>
                <a:spcPts val="0"/>
              </a:spcBef>
              <a:spcAft>
                <a:spcPts val="0"/>
              </a:spcAft>
              <a:buNone/>
            </a:pPr>
            <a:endParaRPr sz="900" dirty="0">
              <a:solidFill>
                <a:srgbClr val="7F7F7F"/>
              </a:solidFill>
              <a:latin typeface="Open Sans"/>
              <a:ea typeface="Open Sans"/>
              <a:cs typeface="Open Sans"/>
              <a:sym typeface="Open Sans"/>
            </a:endParaRPr>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Considering audience and purpose</a:t>
            </a:r>
            <a:endParaRPr dirty="0"/>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Working to ensure the meaning, message and impact are clear</a:t>
            </a:r>
            <a:endParaRPr dirty="0"/>
          </a:p>
          <a:p>
            <a:pPr marL="183516" marR="5080" lvl="0" indent="-171450" algn="l" rtl="0">
              <a:lnSpc>
                <a:spcPct val="100000"/>
              </a:lnSpc>
              <a:spcBef>
                <a:spcPts val="0"/>
              </a:spcBef>
              <a:spcAft>
                <a:spcPts val="0"/>
              </a:spcAft>
              <a:buClr>
                <a:srgbClr val="000000"/>
              </a:buClr>
              <a:buSzPts val="900"/>
              <a:buFont typeface="Arial"/>
              <a:buChar char="•"/>
            </a:pPr>
            <a:r>
              <a:rPr lang="en-GB" sz="900" b="0" i="0" u="none" strike="noStrike" cap="none" dirty="0">
                <a:solidFill>
                  <a:srgbClr val="7F7F7F"/>
                </a:solidFill>
                <a:latin typeface="Open Sans"/>
                <a:ea typeface="Open Sans"/>
                <a:cs typeface="Open Sans"/>
                <a:sym typeface="Open Sans"/>
              </a:rPr>
              <a:t>Using visual language and creative forms of communication</a:t>
            </a:r>
            <a:endParaRPr dirty="0"/>
          </a:p>
          <a:p>
            <a:pPr marL="12700" marR="5080" lvl="0" indent="-634" algn="l" rtl="0">
              <a:lnSpc>
                <a:spcPct val="100000"/>
              </a:lnSpc>
              <a:spcBef>
                <a:spcPts val="0"/>
              </a:spcBef>
              <a:spcAft>
                <a:spcPts val="0"/>
              </a:spcAft>
              <a:buNone/>
            </a:pPr>
            <a:endParaRPr sz="900" b="1" i="0" u="none" strike="noStrike" cap="none" dirty="0">
              <a:solidFill>
                <a:srgbClr val="31859B"/>
              </a:solidFill>
              <a:latin typeface="Playfair Display"/>
              <a:ea typeface="Playfair Display"/>
              <a:cs typeface="Playfair Display"/>
              <a:sym typeface="Playfair Display"/>
            </a:endParaRPr>
          </a:p>
          <a:p>
            <a:pPr marL="12700" marR="5080" lvl="0" indent="-634" algn="l" rtl="0">
              <a:lnSpc>
                <a:spcPct val="100000"/>
              </a:lnSpc>
              <a:spcBef>
                <a:spcPts val="0"/>
              </a:spcBef>
              <a:spcAft>
                <a:spcPts val="0"/>
              </a:spcAft>
              <a:buNone/>
            </a:pPr>
            <a:r>
              <a:rPr lang="en-GB" sz="900" b="1" i="0" u="none" strike="noStrike" cap="none" dirty="0">
                <a:solidFill>
                  <a:srgbClr val="31859B"/>
                </a:solidFill>
                <a:latin typeface="Playfair Display"/>
                <a:ea typeface="Playfair Display"/>
                <a:cs typeface="Playfair Display"/>
                <a:sym typeface="Playfair Display"/>
              </a:rPr>
              <a:t>Communication opportunities:</a:t>
            </a:r>
            <a:endParaRPr sz="900" b="0" i="0" u="none" strike="noStrike" cap="none" dirty="0">
              <a:solidFill>
                <a:srgbClr val="7F7F7F"/>
              </a:solidFill>
              <a:latin typeface="Open Sans"/>
              <a:ea typeface="Open Sans"/>
              <a:cs typeface="Open Sans"/>
              <a:sym typeface="Open Sans"/>
            </a:endParaRPr>
          </a:p>
          <a:p>
            <a:pPr marL="183516" marR="5080" indent="-171450">
              <a:buSzPts val="900"/>
              <a:buFont typeface="Arial"/>
              <a:buChar char="•"/>
            </a:pPr>
            <a:r>
              <a:rPr lang="en-GB" sz="900" dirty="0">
                <a:solidFill>
                  <a:srgbClr val="7F7F7F"/>
                </a:solidFill>
                <a:latin typeface="Open Sans"/>
                <a:ea typeface="Open Sans"/>
                <a:cs typeface="Open Sans"/>
                <a:sym typeface="Open Sans"/>
              </a:rPr>
              <a:t>Presenting work and professional profiles through relevant formats,</a:t>
            </a:r>
          </a:p>
          <a:p>
            <a:pPr marL="183516" marR="5080" indent="-171450">
              <a:buSzPts val="900"/>
              <a:buFont typeface="Arial"/>
              <a:buChar char="•"/>
            </a:pPr>
            <a:r>
              <a:rPr lang="en-GB" sz="900" dirty="0">
                <a:solidFill>
                  <a:srgbClr val="7F7F7F"/>
                </a:solidFill>
                <a:latin typeface="Open Sans"/>
                <a:ea typeface="Open Sans"/>
                <a:cs typeface="Open Sans"/>
                <a:sym typeface="Open Sans"/>
              </a:rPr>
              <a:t>Using multiple channels</a:t>
            </a:r>
          </a:p>
          <a:p>
            <a:pPr marL="183516" marR="5080" indent="-171450">
              <a:buSzPts val="900"/>
              <a:buFont typeface="Arial"/>
              <a:buChar char="•"/>
            </a:pPr>
            <a:r>
              <a:rPr lang="en-GB" sz="900" dirty="0">
                <a:solidFill>
                  <a:srgbClr val="7F7F7F"/>
                </a:solidFill>
                <a:latin typeface="Open Sans"/>
                <a:ea typeface="Open Sans"/>
                <a:cs typeface="Open Sans"/>
                <a:sym typeface="Open Sans"/>
              </a:rPr>
              <a:t>Developing and maintaining networks</a:t>
            </a:r>
          </a:p>
          <a:p>
            <a:pPr marL="183516" marR="5080" indent="-171450">
              <a:buSzPts val="900"/>
              <a:buFont typeface="Arial"/>
              <a:buChar char="•"/>
            </a:pPr>
            <a:r>
              <a:rPr lang="en-GB" sz="900" dirty="0">
                <a:solidFill>
                  <a:srgbClr val="7F7F7F"/>
                </a:solidFill>
                <a:latin typeface="Open Sans"/>
                <a:ea typeface="Open Sans"/>
                <a:cs typeface="Open Sans"/>
                <a:sym typeface="Open Sans"/>
              </a:rPr>
              <a:t>Personal communication and interview skills:</a:t>
            </a:r>
          </a:p>
          <a:p>
            <a:pPr marL="12700" marR="5080" lvl="0" indent="-634" algn="l" rtl="0">
              <a:lnSpc>
                <a:spcPct val="100000"/>
              </a:lnSpc>
              <a:spcBef>
                <a:spcPts val="0"/>
              </a:spcBef>
              <a:spcAft>
                <a:spcPts val="0"/>
              </a:spcAft>
              <a:buNone/>
            </a:pPr>
            <a:endParaRPr sz="900" b="1" i="0" u="none" strike="noStrike" cap="none" dirty="0">
              <a:solidFill>
                <a:srgbClr val="31859B"/>
              </a:solidFill>
              <a:latin typeface="Playfair Display"/>
              <a:ea typeface="Playfair Display"/>
              <a:cs typeface="Playfair Display"/>
              <a:sym typeface="Playfair Display"/>
            </a:endParaRPr>
          </a:p>
          <a:p>
            <a:pPr marL="12700" marR="5080" lvl="0" indent="-633" algn="l" rtl="0">
              <a:spcBef>
                <a:spcPts val="0"/>
              </a:spcBef>
              <a:spcAft>
                <a:spcPts val="0"/>
              </a:spcAft>
              <a:buClr>
                <a:schemeClr val="dk1"/>
              </a:buClr>
              <a:buFont typeface="Arial"/>
              <a:buNone/>
            </a:pPr>
            <a:r>
              <a:rPr lang="en-GB" sz="900" b="1" dirty="0">
                <a:solidFill>
                  <a:srgbClr val="31859B"/>
                </a:solidFill>
                <a:latin typeface="Playfair Display"/>
                <a:ea typeface="Playfair Display"/>
                <a:cs typeface="Playfair Display"/>
                <a:sym typeface="Playfair Display"/>
              </a:rPr>
              <a:t>Evidence could include:</a:t>
            </a:r>
            <a:endParaRPr sz="900" b="0" i="0" u="none" strike="noStrike" cap="none" dirty="0">
              <a:solidFill>
                <a:srgbClr val="7F7F7F"/>
              </a:solidFill>
              <a:latin typeface="Open Sans"/>
              <a:ea typeface="Open Sans"/>
              <a:cs typeface="Open Sans"/>
              <a:sym typeface="Open Sans"/>
            </a:endParaRPr>
          </a:p>
          <a:p>
            <a:pPr marL="12066" marR="5080" lvl="0" indent="0" algn="l" rtl="0">
              <a:lnSpc>
                <a:spcPct val="100000"/>
              </a:lnSpc>
              <a:spcBef>
                <a:spcPts val="0"/>
              </a:spcBef>
              <a:spcAft>
                <a:spcPts val="0"/>
              </a:spcAft>
              <a:buNone/>
            </a:pPr>
            <a:r>
              <a:rPr lang="en-GB" sz="900" b="0" i="0" u="none" strike="noStrike" cap="none" dirty="0">
                <a:solidFill>
                  <a:srgbClr val="7F7F7F"/>
                </a:solidFill>
                <a:latin typeface="Open Sans"/>
                <a:ea typeface="Open Sans"/>
                <a:cs typeface="Open Sans"/>
                <a:sym typeface="Open Sans"/>
              </a:rPr>
              <a:t>Blog</a:t>
            </a:r>
            <a:r>
              <a:rPr lang="en-GB" sz="900" dirty="0">
                <a:solidFill>
                  <a:srgbClr val="7F7F7F"/>
                </a:solidFill>
                <a:latin typeface="Open Sans"/>
                <a:ea typeface="Open Sans"/>
                <a:cs typeface="Open Sans"/>
                <a:sym typeface="Open Sans"/>
              </a:rPr>
              <a:t> or digital portfolio </a:t>
            </a:r>
            <a:r>
              <a:rPr lang="en-GB" sz="900" b="0" i="0" u="none" strike="noStrike" cap="none" dirty="0">
                <a:solidFill>
                  <a:srgbClr val="7F7F7F"/>
                </a:solidFill>
                <a:latin typeface="Open Sans"/>
                <a:ea typeface="Open Sans"/>
                <a:cs typeface="Open Sans"/>
                <a:sym typeface="Open Sans"/>
              </a:rPr>
              <a:t>with:</a:t>
            </a:r>
            <a:endParaRPr sz="900" b="0" i="0" u="none" strike="noStrike" cap="none" dirty="0">
              <a:solidFill>
                <a:srgbClr val="7F7F7F"/>
              </a:solidFill>
              <a:latin typeface="Open Sans"/>
              <a:ea typeface="Open Sans"/>
              <a:cs typeface="Open Sans"/>
              <a:sym typeface="Open Sans"/>
            </a:endParaRPr>
          </a:p>
          <a:p>
            <a:pPr marL="12066" marR="5080" lvl="0" indent="0" algn="l" rtl="0">
              <a:lnSpc>
                <a:spcPct val="100000"/>
              </a:lnSpc>
              <a:spcBef>
                <a:spcPts val="0"/>
              </a:spcBef>
              <a:spcAft>
                <a:spcPts val="0"/>
              </a:spcAft>
              <a:buNone/>
            </a:pPr>
            <a:endParaRPr sz="900" dirty="0">
              <a:solidFill>
                <a:srgbClr val="7F7F7F"/>
              </a:solidFill>
              <a:latin typeface="Open Sans"/>
              <a:ea typeface="Open Sans"/>
              <a:cs typeface="Open Sans"/>
              <a:sym typeface="Open Sans"/>
            </a:endParaRPr>
          </a:p>
          <a:p>
            <a:pPr marL="183516" marR="5080" indent="-171450">
              <a:buSzPts val="900"/>
              <a:buFont typeface="Arial"/>
              <a:buChar char="•"/>
            </a:pPr>
            <a:r>
              <a:rPr lang="en-GB" sz="900" b="0" i="0" u="none" strike="noStrike" cap="none" dirty="0">
                <a:solidFill>
                  <a:srgbClr val="7F7F7F"/>
                </a:solidFill>
                <a:latin typeface="Open Sans"/>
                <a:ea typeface="Open Sans"/>
                <a:cs typeface="Open Sans"/>
                <a:sym typeface="Open Sans"/>
              </a:rPr>
              <a:t>Initial intentions presentation – personal communication</a:t>
            </a:r>
          </a:p>
          <a:p>
            <a:pPr marL="183516" marR="5080" indent="-171450">
              <a:buSzPts val="900"/>
              <a:buFont typeface="Arial"/>
              <a:buChar char="•"/>
            </a:pPr>
            <a:r>
              <a:rPr lang="en-GB" sz="900" dirty="0">
                <a:solidFill>
                  <a:srgbClr val="7F7F7F"/>
                </a:solidFill>
                <a:latin typeface="Open Sans"/>
                <a:ea typeface="Open Sans"/>
                <a:cs typeface="Open Sans"/>
                <a:sym typeface="Open Sans"/>
              </a:rPr>
              <a:t>Recording of mock interview</a:t>
            </a:r>
            <a:endParaRPr lang="en-GB" sz="900" dirty="0"/>
          </a:p>
          <a:p>
            <a:pPr marL="183516" marR="5080" indent="-171450">
              <a:buSzPts val="900"/>
              <a:buFont typeface="Arial"/>
              <a:buChar char="•"/>
            </a:pPr>
            <a:r>
              <a:rPr lang="en-GB" sz="900" dirty="0">
                <a:solidFill>
                  <a:srgbClr val="7F7F7F"/>
                </a:solidFill>
                <a:latin typeface="Open Sans"/>
                <a:ea typeface="Open Sans"/>
                <a:cs typeface="Open Sans"/>
                <a:sym typeface="Open Sans"/>
              </a:rPr>
              <a:t>Presentation of online personal brand identity </a:t>
            </a:r>
          </a:p>
          <a:p>
            <a:pPr marL="12700" marR="5080" lvl="0" indent="-2539"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a:p>
            <a:pPr marL="12700" marR="5080" lvl="0" indent="-2539" algn="l" rtl="0">
              <a:lnSpc>
                <a:spcPct val="100000"/>
              </a:lnSpc>
              <a:spcBef>
                <a:spcPts val="0"/>
              </a:spcBef>
              <a:spcAft>
                <a:spcPts val="0"/>
              </a:spcAft>
              <a:buNone/>
            </a:pPr>
            <a:endParaRPr sz="900" b="0" i="0" u="none" strike="noStrike" cap="none" dirty="0">
              <a:solidFill>
                <a:srgbClr val="7F7F7F"/>
              </a:solidFill>
              <a:latin typeface="Open Sans"/>
              <a:ea typeface="Open Sans"/>
              <a:cs typeface="Open Sans"/>
              <a:sym typeface="Open Sans"/>
            </a:endParaRPr>
          </a:p>
        </p:txBody>
      </p:sp>
      <p:pic>
        <p:nvPicPr>
          <p:cNvPr id="176" name="Google Shape;176;p16"/>
          <p:cNvPicPr preferRelativeResize="0"/>
          <p:nvPr/>
        </p:nvPicPr>
        <p:blipFill rotWithShape="1">
          <a:blip r:embed="rId4" cstate="print">
            <a:alphaModFix/>
            <a:extLst>
              <a:ext uri="{28A0092B-C50C-407E-A947-70E740481C1C}">
                <a14:useLocalDpi xmlns:a14="http://schemas.microsoft.com/office/drawing/2010/main"/>
              </a:ext>
            </a:extLst>
          </a:blip>
          <a:srcRect/>
          <a:stretch/>
        </p:blipFill>
        <p:spPr>
          <a:xfrm>
            <a:off x="7524924" y="114298"/>
            <a:ext cx="1736521" cy="382087"/>
          </a:xfrm>
          <a:prstGeom prst="rect">
            <a:avLst/>
          </a:prstGeom>
          <a:noFill/>
          <a:ln>
            <a:noFill/>
          </a:ln>
        </p:spPr>
      </p:pic>
      <p:cxnSp>
        <p:nvCxnSpPr>
          <p:cNvPr id="178" name="Google Shape;178;p16"/>
          <p:cNvCxnSpPr/>
          <p:nvPr/>
        </p:nvCxnSpPr>
        <p:spPr>
          <a:xfrm>
            <a:off x="7589775" y="494051"/>
            <a:ext cx="1485799" cy="2334"/>
          </a:xfrm>
          <a:prstGeom prst="straightConnector1">
            <a:avLst/>
          </a:prstGeom>
          <a:noFill/>
          <a:ln w="19050" cap="flat" cmpd="sng">
            <a:solidFill>
              <a:srgbClr val="31859B"/>
            </a:solidFill>
            <a:prstDash val="solid"/>
            <a:round/>
            <a:headEnd type="none" w="sm" len="sm"/>
            <a:tailEnd type="none" w="sm" len="sm"/>
          </a:ln>
        </p:spPr>
      </p:cxnSp>
      <p:sp>
        <p:nvSpPr>
          <p:cNvPr id="8" name="Google Shape;49;p6"/>
          <p:cNvSpPr txBox="1"/>
          <p:nvPr/>
        </p:nvSpPr>
        <p:spPr>
          <a:xfrm>
            <a:off x="6830644" y="468992"/>
            <a:ext cx="2615360"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800" b="1" dirty="0">
                <a:solidFill>
                  <a:srgbClr val="31859B"/>
                </a:solidFill>
                <a:latin typeface="Playfair Display"/>
                <a:ea typeface="Playfair Display"/>
                <a:cs typeface="Playfair Display"/>
                <a:sym typeface="Playfair Display"/>
              </a:rPr>
              <a:t>Progression</a:t>
            </a:r>
            <a:endParaRPr sz="2800" b="1" i="0" u="none" strike="noStrike" cap="none" dirty="0">
              <a:solidFill>
                <a:srgbClr val="31859B"/>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 name="Google Shape;139;p12">
            <a:extLst>
              <a:ext uri="{FF2B5EF4-FFF2-40B4-BE49-F238E27FC236}">
                <a16:creationId xmlns:a16="http://schemas.microsoft.com/office/drawing/2014/main" id="{5E7E9992-AC2A-4CF4-A6C9-D73D05DB0C90}"/>
              </a:ext>
            </a:extLst>
          </p:cNvPr>
          <p:cNvSpPr txBox="1"/>
          <p:nvPr/>
        </p:nvSpPr>
        <p:spPr>
          <a:xfrm>
            <a:off x="1117109" y="84427"/>
            <a:ext cx="1674900" cy="523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r>
              <a:rPr lang="en-GB" sz="2400" b="1" i="0" u="none" strike="noStrike" cap="none" dirty="0">
                <a:solidFill>
                  <a:srgbClr val="FFFFFF"/>
                </a:solidFill>
                <a:latin typeface="Playfair Display"/>
                <a:ea typeface="Playfair Display"/>
                <a:cs typeface="Playfair Display"/>
                <a:sym typeface="Playfair Display"/>
              </a:rPr>
              <a:t>Guidance</a:t>
            </a:r>
            <a:endParaRPr sz="2400" b="1" i="0" u="none" strike="noStrike" cap="none" dirty="0">
              <a:solidFill>
                <a:srgbClr val="FFFFFF"/>
              </a:solidFill>
              <a:latin typeface="Playfair Display"/>
              <a:ea typeface="Playfair Display"/>
              <a:cs typeface="Playfair Display"/>
              <a:sym typeface="Playfair Display"/>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83"/>
        <p:cNvGrpSpPr/>
        <p:nvPr/>
      </p:nvGrpSpPr>
      <p:grpSpPr>
        <a:xfrm>
          <a:off x="0" y="0"/>
          <a:ext cx="0" cy="0"/>
          <a:chOff x="0" y="0"/>
          <a:chExt cx="0" cy="0"/>
        </a:xfrm>
      </p:grpSpPr>
      <p:pic>
        <p:nvPicPr>
          <p:cNvPr id="184" name="Google Shape;184;p17"/>
          <p:cNvPicPr preferRelativeResize="0"/>
          <p:nvPr/>
        </p:nvPicPr>
        <p:blipFill rotWithShape="1">
          <a:blip r:embed="rId3" cstate="print">
            <a:alphaModFix/>
            <a:extLst>
              <a:ext uri="{28A0092B-C50C-407E-A947-70E740481C1C}">
                <a14:useLocalDpi xmlns:a14="http://schemas.microsoft.com/office/drawing/2010/main"/>
              </a:ext>
            </a:extLst>
          </a:blip>
          <a:srcRect t="3585"/>
          <a:stretch/>
        </p:blipFill>
        <p:spPr>
          <a:xfrm>
            <a:off x="144000" y="731056"/>
            <a:ext cx="7386802" cy="4186266"/>
          </a:xfrm>
          <a:prstGeom prst="rect">
            <a:avLst/>
          </a:prstGeom>
          <a:noFill/>
          <a:ln>
            <a:noFill/>
          </a:ln>
        </p:spPr>
      </p:pic>
      <p:pic>
        <p:nvPicPr>
          <p:cNvPr id="185" name="Google Shape;185;p17"/>
          <p:cNvPicPr preferRelativeResize="0"/>
          <p:nvPr/>
        </p:nvPicPr>
        <p:blipFill rotWithShape="1">
          <a:blip r:embed="rId4" cstate="print">
            <a:alphaModFix/>
            <a:extLst>
              <a:ext uri="{28A0092B-C50C-407E-A947-70E740481C1C}">
                <a14:useLocalDpi xmlns:a14="http://schemas.microsoft.com/office/drawing/2010/main"/>
              </a:ext>
            </a:extLst>
          </a:blip>
          <a:srcRect/>
          <a:stretch/>
        </p:blipFill>
        <p:spPr>
          <a:xfrm>
            <a:off x="7524924" y="114298"/>
            <a:ext cx="1736521" cy="382087"/>
          </a:xfrm>
          <a:prstGeom prst="rect">
            <a:avLst/>
          </a:prstGeom>
          <a:noFill/>
          <a:ln>
            <a:noFill/>
          </a:ln>
        </p:spPr>
      </p:pic>
      <p:cxnSp>
        <p:nvCxnSpPr>
          <p:cNvPr id="187" name="Google Shape;187;p17"/>
          <p:cNvCxnSpPr/>
          <p:nvPr/>
        </p:nvCxnSpPr>
        <p:spPr>
          <a:xfrm>
            <a:off x="7589775" y="494051"/>
            <a:ext cx="1485799" cy="2334"/>
          </a:xfrm>
          <a:prstGeom prst="straightConnector1">
            <a:avLst/>
          </a:prstGeom>
          <a:noFill/>
          <a:ln w="19050" cap="flat" cmpd="sng">
            <a:solidFill>
              <a:srgbClr val="31859B"/>
            </a:solidFill>
            <a:prstDash val="solid"/>
            <a:round/>
            <a:headEnd type="none" w="sm" len="sm"/>
            <a:tailEnd type="none" w="sm" len="sm"/>
          </a:ln>
        </p:spPr>
      </p:cxnSp>
      <p:sp>
        <p:nvSpPr>
          <p:cNvPr id="188" name="Google Shape;188;p17"/>
          <p:cNvSpPr/>
          <p:nvPr/>
        </p:nvSpPr>
        <p:spPr>
          <a:xfrm>
            <a:off x="5391774" y="713543"/>
            <a:ext cx="1699200" cy="201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49;p6"/>
          <p:cNvSpPr txBox="1"/>
          <p:nvPr/>
        </p:nvSpPr>
        <p:spPr>
          <a:xfrm>
            <a:off x="6830644" y="468992"/>
            <a:ext cx="2615360"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800" b="1" dirty="0">
                <a:solidFill>
                  <a:srgbClr val="31859B"/>
                </a:solidFill>
                <a:latin typeface="Playfair Display"/>
                <a:ea typeface="Playfair Display"/>
                <a:cs typeface="Playfair Display"/>
                <a:sym typeface="Playfair Display"/>
              </a:rPr>
              <a:t>Progression</a:t>
            </a:r>
            <a:endParaRPr sz="2800" b="1" i="0" u="none" strike="noStrike" cap="none" dirty="0">
              <a:solidFill>
                <a:srgbClr val="31859B"/>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426</TotalTime>
  <Words>1216</Words>
  <Application>Microsoft Office PowerPoint</Application>
  <PresentationFormat>Custom</PresentationFormat>
  <Paragraphs>205</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Open Sans</vt:lpstr>
      <vt:lpstr>Calibri</vt:lpstr>
      <vt:lpstr>Courier New</vt:lpstr>
      <vt:lpstr>Verdana</vt:lpstr>
      <vt:lpstr>Playfair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Cable, Joel</dc:creator>
  <cp:lastModifiedBy>Cable, Joel</cp:lastModifiedBy>
  <cp:revision>21</cp:revision>
  <dcterms:modified xsi:type="dcterms:W3CDTF">2020-05-13T15:23:34Z</dcterms:modified>
</cp:coreProperties>
</file>